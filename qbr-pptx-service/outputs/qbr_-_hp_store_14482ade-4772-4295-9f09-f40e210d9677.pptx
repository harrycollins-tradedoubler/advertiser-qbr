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83880" y="0"/>
            <a:ext cx="4005072" cy="6858000"/>
          </a:xfrm>
          <a:prstGeom prst="rect">
            <a:avLst/>
          </a:prstGeom>
          <a:solidFill>
            <a:srgbClr val="ECE9E3"/>
          </a:solidFill>
          <a:ln w="12700">
            <a:solidFill>
              <a:srgbClr val="ECE9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22208" y="621792"/>
            <a:ext cx="2057400" cy="2057400"/>
          </a:xfrm>
          <a:prstGeom prst="ellipse">
            <a:avLst/>
          </a:prstGeom>
          <a:solidFill>
            <a:srgbClr val="2B73FF">
              <a:alpha val="84000"/>
            </a:srgbClr>
          </a:solidFill>
          <a:ln w="12700">
            <a:solidFill>
              <a:srgbClr val="2B7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5303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Tradedoubler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" y="1316736"/>
            <a:ext cx="6720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QBR - HP Store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49808" y="2267712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2025-12-01 to 2026-03-25 vs 2024-12-01 to 2025-03-25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9808" y="2779776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7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improved despite softer traffic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49808" y="35661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Increase sales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808" y="4279392"/>
            <a:ext cx="4937760" cy="13533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Client: HP Store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Language: English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Currency: GBP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3FF"/>
          </a:solidFill>
          <a:ln w="12700">
            <a:solidFill>
              <a:srgbClr val="2B7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329184"/>
            <a:ext cx="749808" cy="146304"/>
          </a:xfrm>
          <a:prstGeom prst="rect">
            <a:avLst/>
          </a:prstGeom>
          <a:solidFill>
            <a:srgbClr val="FFABEE"/>
          </a:solidFill>
          <a:ln w="12700">
            <a:solidFill>
              <a:srgbClr val="FFAB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29184"/>
            <a:ext cx="201168" cy="146304"/>
          </a:xfrm>
          <a:prstGeom prst="rect">
            <a:avLst/>
          </a:prstGeom>
          <a:solidFill>
            <a:srgbClr val="FFD332"/>
          </a:solidFill>
          <a:ln w="12700">
            <a:solidFill>
              <a:srgbClr val="FFD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6437376"/>
            <a:ext cx="10972800" cy="0"/>
          </a:xfrm>
          <a:prstGeom prst="line">
            <a:avLst/>
          </a:prstGeom>
          <a:noFill/>
          <a:ln w="12700">
            <a:solidFill>
              <a:srgbClr val="D7D2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648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Tradedoubler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0" y="6428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86384" y="1225296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improved despite softer traffic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04672" y="1883664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2025-12-01 to 2026-03-25 vs 2024-12-01 to 2025-03-25. Focus: Increase sales.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" y="2596896"/>
            <a:ext cx="4846320" cy="32186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 December 2025 to 25 March 2026 vs 1 December 2024 to 25 March 2025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Sales: 54,562 (-7,422, -12.0%)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value: £24,076,021 (-£532,425, -2.2%)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AOV: £441.26 (+£44.25, +11.1%)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Clicks: 42,050,161 (-10,314,194, -19.7%)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36208" y="1280160"/>
            <a:ext cx="1783080" cy="1060704"/>
          </a:xfrm>
          <a:prstGeom prst="roundRect">
            <a:avLst/>
          </a:prstGeom>
          <a:solidFill>
            <a:srgbClr val="ECE9E3"/>
          </a:solidFill>
          <a:ln w="12700">
            <a:solidFill>
              <a:srgbClr val="D7D2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2512" y="140817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82512" y="160934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54,562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82512" y="202996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AB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-12.0%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220456" y="1280160"/>
            <a:ext cx="1783080" cy="1060704"/>
          </a:xfrm>
          <a:prstGeom prst="roundRect">
            <a:avLst/>
          </a:prstGeom>
          <a:solidFill>
            <a:srgbClr val="ECE9E3"/>
          </a:solidFill>
          <a:ln w="12700">
            <a:solidFill>
              <a:srgbClr val="D7D2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140817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value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160934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£24,076,021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66760" y="202996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AB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-2.2%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204704" y="1280160"/>
            <a:ext cx="1783080" cy="1060704"/>
          </a:xfrm>
          <a:prstGeom prst="roundRect">
            <a:avLst/>
          </a:prstGeom>
          <a:solidFill>
            <a:srgbClr val="ECE9E3"/>
          </a:solidFill>
          <a:ln w="12700">
            <a:solidFill>
              <a:srgbClr val="D7D2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51008" y="140817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AOV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351008" y="160934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£441.26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351008" y="202996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C8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+11.1%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3FF"/>
          </a:solidFill>
          <a:ln w="12700">
            <a:solidFill>
              <a:srgbClr val="2B7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329184"/>
            <a:ext cx="749808" cy="146304"/>
          </a:xfrm>
          <a:prstGeom prst="rect">
            <a:avLst/>
          </a:prstGeom>
          <a:solidFill>
            <a:srgbClr val="FFABEE"/>
          </a:solidFill>
          <a:ln w="12700">
            <a:solidFill>
              <a:srgbClr val="FFAB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29184"/>
            <a:ext cx="201168" cy="146304"/>
          </a:xfrm>
          <a:prstGeom prst="rect">
            <a:avLst/>
          </a:prstGeom>
          <a:solidFill>
            <a:srgbClr val="FFD332"/>
          </a:solidFill>
          <a:ln w="12700">
            <a:solidFill>
              <a:srgbClr val="FFD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6437376"/>
            <a:ext cx="10972800" cy="0"/>
          </a:xfrm>
          <a:prstGeom prst="line">
            <a:avLst/>
          </a:prstGeom>
          <a:noFill/>
          <a:ln w="12700">
            <a:solidFill>
              <a:srgbClr val="D7D2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648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Tradedoubler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0" y="6428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Snapshot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8368" y="8961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2025-12-01 to 2026-03-25 vs 2024-12-01 to 2025-03-25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04672" y="1572768"/>
            <a:ext cx="1783080" cy="1060704"/>
          </a:xfrm>
          <a:prstGeom prst="roundRect">
            <a:avLst/>
          </a:prstGeom>
          <a:solidFill>
            <a:srgbClr val="ECE9E3"/>
          </a:solidFill>
          <a:ln w="12700">
            <a:solidFill>
              <a:srgbClr val="D7D2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170078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50976" y="190195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54,562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50976" y="232257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AB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-12.0%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88920" y="1572768"/>
            <a:ext cx="1783080" cy="1060704"/>
          </a:xfrm>
          <a:prstGeom prst="roundRect">
            <a:avLst/>
          </a:prstGeom>
          <a:solidFill>
            <a:srgbClr val="ECE9E3"/>
          </a:solidFill>
          <a:ln w="12700">
            <a:solidFill>
              <a:srgbClr val="D7D2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35224" y="170078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value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935224" y="190195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£24,076,021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935224" y="232257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AB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-2.2%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73168" y="1572768"/>
            <a:ext cx="1783080" cy="1060704"/>
          </a:xfrm>
          <a:prstGeom prst="roundRect">
            <a:avLst/>
          </a:prstGeom>
          <a:solidFill>
            <a:srgbClr val="ECE9E3"/>
          </a:solidFill>
          <a:ln w="12700">
            <a:solidFill>
              <a:srgbClr val="D7D2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170078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AOV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19472" y="190195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£441.26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919472" y="232257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C8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+11.1%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4672" y="2798064"/>
            <a:ext cx="1783080" cy="1060704"/>
          </a:xfrm>
          <a:prstGeom prst="roundRect">
            <a:avLst/>
          </a:prstGeom>
          <a:solidFill>
            <a:srgbClr val="ECE9E3"/>
          </a:solidFill>
          <a:ln w="12700">
            <a:solidFill>
              <a:srgbClr val="D7D2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976" y="292608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50976" y="312724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42,050,161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50976" y="354787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AB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-19.7%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88920" y="2798064"/>
            <a:ext cx="1783080" cy="1060704"/>
          </a:xfrm>
          <a:prstGeom prst="roundRect">
            <a:avLst/>
          </a:prstGeom>
          <a:solidFill>
            <a:srgbClr val="ECE9E3"/>
          </a:solidFill>
          <a:ln w="12700">
            <a:solidFill>
              <a:srgbClr val="D7D2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35224" y="292608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 Rate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935224" y="312724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0.13%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935224" y="354787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C8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+9.6%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73168" y="2798064"/>
            <a:ext cx="1783080" cy="1060704"/>
          </a:xfrm>
          <a:prstGeom prst="roundRect">
            <a:avLst/>
          </a:prstGeom>
          <a:solidFill>
            <a:srgbClr val="ECE9E3"/>
          </a:solidFill>
          <a:ln w="12700">
            <a:solidFill>
              <a:srgbClr val="D7D2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292608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ROI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19472" y="312724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26.66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919472" y="354787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C8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+1.3%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3FF"/>
          </a:solidFill>
          <a:ln w="12700">
            <a:solidFill>
              <a:srgbClr val="2B7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329184"/>
            <a:ext cx="749808" cy="146304"/>
          </a:xfrm>
          <a:prstGeom prst="rect">
            <a:avLst/>
          </a:prstGeom>
          <a:solidFill>
            <a:srgbClr val="FFABEE"/>
          </a:solidFill>
          <a:ln w="12700">
            <a:solidFill>
              <a:srgbClr val="FFAB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29184"/>
            <a:ext cx="201168" cy="146304"/>
          </a:xfrm>
          <a:prstGeom prst="rect">
            <a:avLst/>
          </a:prstGeom>
          <a:solidFill>
            <a:srgbClr val="FFD332"/>
          </a:solidFill>
          <a:ln w="12700">
            <a:solidFill>
              <a:srgbClr val="FFD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6437376"/>
            <a:ext cx="10972800" cy="0"/>
          </a:xfrm>
          <a:prstGeom prst="line">
            <a:avLst/>
          </a:prstGeom>
          <a:noFill/>
          <a:ln w="12700">
            <a:solidFill>
              <a:srgbClr val="D7D2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648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Tradedoubler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0" y="6428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Program-Level Breakdown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8368" y="8961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2025-12-01 to 2026-03-25 vs 2024-12-01 to 2025-03-25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1152144"/>
            <a:ext cx="10533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Program-Level Breakdown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" y="1371600"/>
          <a:ext cx="10533888" cy="4572000"/>
        </p:xfrm>
        <a:graphic>
          <a:graphicData uri="http://schemas.openxmlformats.org/drawingml/2006/table">
            <a:tbl>
              <a:tblPr/>
              <a:tblGrid>
                <a:gridCol w="1755648"/>
                <a:gridCol w="1755648"/>
                <a:gridCol w="1755648"/>
                <a:gridCol w="1755648"/>
                <a:gridCol w="1755648"/>
                <a:gridCol w="1755648"/>
              </a:tblGrid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 OV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OV YoY 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 Sales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Sales YoY 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HP Store UK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12345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£12,544,201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-1.8%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28,411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-10.2%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HP Store Germany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23456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�,�8,904,115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19,084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-13.4%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HP Store Netherlands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34567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�,�2,627,705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+4.2%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7,067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-2.1%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3FF"/>
          </a:solidFill>
          <a:ln w="12700">
            <a:solidFill>
              <a:srgbClr val="2B7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329184"/>
            <a:ext cx="749808" cy="146304"/>
          </a:xfrm>
          <a:prstGeom prst="rect">
            <a:avLst/>
          </a:prstGeom>
          <a:solidFill>
            <a:srgbClr val="FFABEE"/>
          </a:solidFill>
          <a:ln w="12700">
            <a:solidFill>
              <a:srgbClr val="FFAB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29184"/>
            <a:ext cx="201168" cy="146304"/>
          </a:xfrm>
          <a:prstGeom prst="rect">
            <a:avLst/>
          </a:prstGeom>
          <a:solidFill>
            <a:srgbClr val="FFD332"/>
          </a:solidFill>
          <a:ln w="12700">
            <a:solidFill>
              <a:srgbClr val="FFD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6437376"/>
            <a:ext cx="10972800" cy="0"/>
          </a:xfrm>
          <a:prstGeom prst="line">
            <a:avLst/>
          </a:prstGeom>
          <a:noFill/>
          <a:ln w="12700">
            <a:solidFill>
              <a:srgbClr val="D7D2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648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Tradedoubler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0" y="6428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Growth Publishers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04672" y="1152144"/>
            <a:ext cx="10533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Growth Publishers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" y="1371600"/>
          <a:ext cx="10533888" cy="4572000"/>
        </p:xfrm>
        <a:graphic>
          <a:graphicData uri="http://schemas.openxmlformats.org/drawingml/2006/table">
            <a:tbl>
              <a:tblPr/>
              <a:tblGrid>
                <a:gridCol w="1316736"/>
                <a:gridCol w="1316736"/>
                <a:gridCol w="1316736"/>
                <a:gridCol w="1316736"/>
                <a:gridCol w="1316736"/>
                <a:gridCol w="1316736"/>
                <a:gridCol w="1316736"/>
                <a:gridCol w="1316736"/>
              </a:tblGrid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Site ID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Segment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 Sales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Sales YoY 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 OV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OV YoY Change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OV YoY 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Skimlinks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18116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Content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9,540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+18.2%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£3,820,210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+£590,200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+18.3%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Redbrain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16055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CSS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6,814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+9.5%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£2,611,402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+£201,331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+8.4%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3FF"/>
          </a:solidFill>
          <a:ln w="12700">
            <a:solidFill>
              <a:srgbClr val="2B7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329184"/>
            <a:ext cx="749808" cy="146304"/>
          </a:xfrm>
          <a:prstGeom prst="rect">
            <a:avLst/>
          </a:prstGeom>
          <a:solidFill>
            <a:srgbClr val="FFABEE"/>
          </a:solidFill>
          <a:ln w="12700">
            <a:solidFill>
              <a:srgbClr val="FFAB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29184"/>
            <a:ext cx="201168" cy="146304"/>
          </a:xfrm>
          <a:prstGeom prst="rect">
            <a:avLst/>
          </a:prstGeom>
          <a:solidFill>
            <a:srgbClr val="FFD332"/>
          </a:solidFill>
          <a:ln w="12700">
            <a:solidFill>
              <a:srgbClr val="FFD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6437376"/>
            <a:ext cx="10972800" cy="0"/>
          </a:xfrm>
          <a:prstGeom prst="line">
            <a:avLst/>
          </a:prstGeom>
          <a:noFill/>
          <a:ln w="12700">
            <a:solidFill>
              <a:srgbClr val="D7D2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648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Tradedoubler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0" y="6428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Declining Publishers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04672" y="1152144"/>
            <a:ext cx="10533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Declining Publishers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" y="1371600"/>
          <a:ext cx="10533888" cy="4572000"/>
        </p:xfrm>
        <a:graphic>
          <a:graphicData uri="http://schemas.openxmlformats.org/drawingml/2006/table">
            <a:tbl>
              <a:tblPr/>
              <a:tblGrid>
                <a:gridCol w="1316736"/>
                <a:gridCol w="1316736"/>
                <a:gridCol w="1316736"/>
                <a:gridCol w="1316736"/>
                <a:gridCol w="1316736"/>
                <a:gridCol w="1316736"/>
                <a:gridCol w="1316736"/>
                <a:gridCol w="1316736"/>
              </a:tblGrid>
              <a:tr h="2286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Site ID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Segment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 Sales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Sales YoY 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 OV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OV YoY Change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OV YoY 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286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VoucherCodes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9921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Voucher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11,240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-14.4%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£4,731,100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-£780,112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-14.2%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3FF"/>
          </a:solidFill>
          <a:ln w="12700">
            <a:solidFill>
              <a:srgbClr val="2B7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329184"/>
            <a:ext cx="749808" cy="146304"/>
          </a:xfrm>
          <a:prstGeom prst="rect">
            <a:avLst/>
          </a:prstGeom>
          <a:solidFill>
            <a:srgbClr val="FFABEE"/>
          </a:solidFill>
          <a:ln w="12700">
            <a:solidFill>
              <a:srgbClr val="FFAB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29184"/>
            <a:ext cx="201168" cy="146304"/>
          </a:xfrm>
          <a:prstGeom prst="rect">
            <a:avLst/>
          </a:prstGeom>
          <a:solidFill>
            <a:srgbClr val="FFD332"/>
          </a:solidFill>
          <a:ln w="12700">
            <a:solidFill>
              <a:srgbClr val="FFD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6437376"/>
            <a:ext cx="10972800" cy="0"/>
          </a:xfrm>
          <a:prstGeom prst="line">
            <a:avLst/>
          </a:prstGeom>
          <a:noFill/>
          <a:ln w="12700">
            <a:solidFill>
              <a:srgbClr val="D7D2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648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Tradedoubler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0" y="6428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Current Performers by Order Value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04672" y="1152144"/>
            <a:ext cx="10533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Current Performers by Order Value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" y="1371600"/>
          <a:ext cx="10533888" cy="4572000"/>
        </p:xfrm>
        <a:graphic>
          <a:graphicData uri="http://schemas.openxmlformats.org/drawingml/2006/table">
            <a:tbl>
              <a:tblPr/>
              <a:tblGrid>
                <a:gridCol w="1170432"/>
                <a:gridCol w="1170432"/>
                <a:gridCol w="1170432"/>
                <a:gridCol w="1170432"/>
                <a:gridCol w="1170432"/>
                <a:gridCol w="1170432"/>
                <a:gridCol w="1170432"/>
                <a:gridCol w="1170432"/>
                <a:gridCol w="1170432"/>
              </a:tblGrid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Site ID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Segment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 Sales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Sales YoY 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OV YoY 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 Commission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CPA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VoucherCodes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9921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Voucher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£4,731,100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11,240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-14.4%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-14.2%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£181,520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£16.15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Skimlinks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18116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Content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£3,820,210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9,540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+18.2%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+18.3%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£152,808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£16.02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3FF"/>
          </a:solidFill>
          <a:ln w="12700">
            <a:solidFill>
              <a:srgbClr val="2B7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329184"/>
            <a:ext cx="749808" cy="146304"/>
          </a:xfrm>
          <a:prstGeom prst="rect">
            <a:avLst/>
          </a:prstGeom>
          <a:solidFill>
            <a:srgbClr val="FFABEE"/>
          </a:solidFill>
          <a:ln w="12700">
            <a:solidFill>
              <a:srgbClr val="FFAB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29184"/>
            <a:ext cx="201168" cy="146304"/>
          </a:xfrm>
          <a:prstGeom prst="rect">
            <a:avLst/>
          </a:prstGeom>
          <a:solidFill>
            <a:srgbClr val="FFD332"/>
          </a:solidFill>
          <a:ln w="12700">
            <a:solidFill>
              <a:srgbClr val="FFD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6437376"/>
            <a:ext cx="10972800" cy="0"/>
          </a:xfrm>
          <a:prstGeom prst="line">
            <a:avLst/>
          </a:prstGeom>
          <a:noFill/>
          <a:ln w="12700">
            <a:solidFill>
              <a:srgbClr val="D7D2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648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Tradedoubler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0" y="6428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 Snapshot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04672" y="1152144"/>
            <a:ext cx="10533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 Snapshot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" y="1371600"/>
          <a:ext cx="10533888" cy="4572000"/>
        </p:xfrm>
        <a:graphic>
          <a:graphicData uri="http://schemas.openxmlformats.org/drawingml/2006/table">
            <a:tbl>
              <a:tblPr/>
              <a:tblGrid>
                <a:gridCol w="1755648"/>
                <a:gridCol w="1755648"/>
                <a:gridCol w="1755648"/>
                <a:gridCol w="1755648"/>
                <a:gridCol w="1755648"/>
                <a:gridCol w="1755648"/>
              </a:tblGrid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Segment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Sales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Sales YoY 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OV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OV YoY 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Voucher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19,221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-10.1%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£7,112,230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-8.4%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Content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15,604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+6.8%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£6,108,554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+7.2%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3FF"/>
          </a:solidFill>
          <a:ln w="12700">
            <a:solidFill>
              <a:srgbClr val="2B7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329184"/>
            <a:ext cx="749808" cy="146304"/>
          </a:xfrm>
          <a:prstGeom prst="rect">
            <a:avLst/>
          </a:prstGeom>
          <a:solidFill>
            <a:srgbClr val="FFABEE"/>
          </a:solidFill>
          <a:ln w="12700">
            <a:solidFill>
              <a:srgbClr val="FFAB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29184"/>
            <a:ext cx="201168" cy="146304"/>
          </a:xfrm>
          <a:prstGeom prst="rect">
            <a:avLst/>
          </a:prstGeom>
          <a:solidFill>
            <a:srgbClr val="FFD332"/>
          </a:solidFill>
          <a:ln w="12700">
            <a:solidFill>
              <a:srgbClr val="FFD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6437376"/>
            <a:ext cx="10972800" cy="0"/>
          </a:xfrm>
          <a:prstGeom prst="line">
            <a:avLst/>
          </a:prstGeom>
          <a:noFill/>
          <a:ln w="12700">
            <a:solidFill>
              <a:srgbClr val="D7D2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648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Tradedoubler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0" y="6428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Appendix: Program YoY Table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04672" y="1078992"/>
            <a:ext cx="10533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YoY Table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" y="1298448"/>
          <a:ext cx="10533888" cy="4892040"/>
        </p:xfrm>
        <a:graphic>
          <a:graphicData uri="http://schemas.openxmlformats.org/drawingml/2006/table">
            <a:tbl>
              <a:tblPr/>
              <a:tblGrid>
                <a:gridCol w="2106778"/>
                <a:gridCol w="2106778"/>
                <a:gridCol w="2106778"/>
                <a:gridCol w="2106778"/>
                <a:gridCol w="2106778"/>
              </a:tblGrid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Variance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42,050,161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52,364,355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-10,314,194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-19.7%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Sales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54,562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61,984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-7,422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-12.0%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 Rate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0.13%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0.12%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+0.01%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+9.6%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£24,076,021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£24,608,446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-£532,425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-2.2%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AOV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£441.26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£397.01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+£44.25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+11.1%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 Commission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£903,086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£935,460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-£32,374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-3.5%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Commission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£903,086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£935,460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-£32,374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-3.5%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CPA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£16.55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£15.09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+£1.46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+9.7%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ROI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26.66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26.31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+0.35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+1.3%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HP Store</dc:title>
  <dc:subject>Quarterly business review</dc:subject>
  <dc:creator>QBR PPTX Service</dc:creator>
  <cp:lastModifiedBy>QBR PPTX Service</cp:lastModifiedBy>
  <cp:revision>1</cp:revision>
  <dcterms:created xsi:type="dcterms:W3CDTF">2026-04-07T09:47:04Z</dcterms:created>
  <dcterms:modified xsi:type="dcterms:W3CDTF">2026-04-07T09:47:04Z</dcterms:modified>
</cp:coreProperties>
</file>