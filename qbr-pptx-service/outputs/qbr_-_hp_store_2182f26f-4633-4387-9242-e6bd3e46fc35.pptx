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863840" y="-365760"/>
            <a:ext cx="3017520" cy="2286000"/>
          </a:xfrm>
          <a:prstGeom prst="hexagon">
            <a:avLst/>
          </a:prstGeom>
          <a:solidFill>
            <a:srgbClr val="F3F4F6">
              <a:alpha val="1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601200" y="-45720"/>
            <a:ext cx="2651760" cy="2103120"/>
          </a:xfrm>
          <a:prstGeom prst="hexagon">
            <a:avLst/>
          </a:prstGeom>
          <a:solidFill>
            <a:srgbClr val="F3F4F6">
              <a:alpha val="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21792" y="114300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QBR - HP Store</a:t>
            </a:r>
            <a:endParaRPr lang="en-US" sz="3100" dirty="0"/>
          </a:p>
        </p:txBody>
      </p:sp>
      <p:sp>
        <p:nvSpPr>
          <p:cNvPr id="68" name="Text 66"/>
          <p:cNvSpPr/>
          <p:nvPr/>
        </p:nvSpPr>
        <p:spPr>
          <a:xfrm>
            <a:off x="621792" y="2103120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2025-12-01 to 2026-03-25 vs 2024-12-01 to 2025-03-25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621792" y="2971800"/>
            <a:ext cx="1170432" cy="329184"/>
          </a:xfrm>
          <a:prstGeom prst="roundRect">
            <a:avLst/>
          </a:prstGeom>
          <a:solidFill>
            <a:srgbClr val="F3F4F6">
              <a:alpha val="7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58952" y="30449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QBR REPORT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1883664" y="2971800"/>
            <a:ext cx="1600200" cy="329184"/>
          </a:xfrm>
          <a:prstGeom prst="roundRect">
            <a:avLst/>
          </a:prstGeom>
          <a:solidFill>
            <a:srgbClr val="2F6FF2">
              <a:alpha val="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993392" y="304495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0D4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[PERIOD] ANALYSIS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621792" y="2496312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Increase sales</a:t>
            </a:r>
            <a:endParaRPr lang="en-US" sz="1150" dirty="0"/>
          </a:p>
        </p:txBody>
      </p:sp>
      <p:sp>
        <p:nvSpPr>
          <p:cNvPr id="74" name="Text 72"/>
          <p:cNvSpPr/>
          <p:nvPr/>
        </p:nvSpPr>
        <p:spPr>
          <a:xfrm>
            <a:off x="621792" y="457200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td</a:t>
            </a:r>
            <a:endParaRPr lang="en-US" sz="9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Reporting Period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Current and YoY comparison windows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64008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Current Period</a:t>
            </a:r>
            <a:endParaRPr lang="en-US" sz="2100" dirty="0"/>
          </a:p>
        </p:txBody>
      </p:sp>
      <p:sp>
        <p:nvSpPr>
          <p:cNvPr id="68" name="Text 66"/>
          <p:cNvSpPr/>
          <p:nvPr/>
        </p:nvSpPr>
        <p:spPr>
          <a:xfrm>
            <a:off x="630936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Comparison Period (YoY)</a:t>
            </a:r>
            <a:endParaRPr lang="en-US" sz="2100" dirty="0"/>
          </a:p>
        </p:txBody>
      </p:sp>
      <p:sp>
        <p:nvSpPr>
          <p:cNvPr id="69" name="Text 67"/>
          <p:cNvSpPr/>
          <p:nvPr/>
        </p:nvSpPr>
        <p:spPr>
          <a:xfrm>
            <a:off x="640080" y="233172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Current period: 2025-12-01 to 2026-03-25</a:t>
            </a:r>
            <a:endParaRPr lang="en-US" sz="1400" dirty="0"/>
          </a:p>
        </p:txBody>
      </p:sp>
      <p:sp>
        <p:nvSpPr>
          <p:cNvPr id="70" name="Text 68"/>
          <p:cNvSpPr/>
          <p:nvPr/>
        </p:nvSpPr>
        <p:spPr>
          <a:xfrm>
            <a:off x="6309360" y="233172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Comparison period: 2024-12-01 to 2025-03-25</a:t>
            </a:r>
            <a:endParaRPr lang="en-US" sz="1400" dirty="0"/>
          </a:p>
        </p:txBody>
      </p:sp>
      <p:sp>
        <p:nvSpPr>
          <p:cNvPr id="71" name="Shape 69"/>
          <p:cNvSpPr/>
          <p:nvPr/>
        </p:nvSpPr>
        <p:spPr>
          <a:xfrm>
            <a:off x="640080" y="425196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68680" y="442569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All figures are reported in GBP unless otherwise stated. YoY variance is calculated as current period vs comparison period.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Program Performance: Executive Summary</a:t>
            </a:r>
            <a:endParaRPr lang="en-US" sz="2800" dirty="0"/>
          </a:p>
        </p:txBody>
      </p:sp>
      <p:sp>
        <p:nvSpPr>
          <p:cNvPr id="66" name="Shape 64"/>
          <p:cNvSpPr/>
          <p:nvPr/>
        </p:nvSpPr>
        <p:spPr>
          <a:xfrm>
            <a:off x="640080" y="2148840"/>
            <a:ext cx="3493008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40080" y="214884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139696" y="190195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286000" y="20299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841248" y="2624328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Sales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841248" y="2862072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54,562</a:t>
            </a:r>
            <a:endParaRPr lang="en-US" sz="1400" dirty="0"/>
          </a:p>
        </p:txBody>
      </p:sp>
      <p:sp>
        <p:nvSpPr>
          <p:cNvPr id="72" name="Text 70"/>
          <p:cNvSpPr/>
          <p:nvPr/>
        </p:nvSpPr>
        <p:spPr>
          <a:xfrm>
            <a:off x="841248" y="3172968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-12.0%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4352544" y="2148840"/>
            <a:ext cx="3493008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352544" y="214884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852160" y="190195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998464" y="20299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4553712" y="2624328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Order value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4553712" y="2862072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£24,076,021</a:t>
            </a:r>
            <a:endParaRPr lang="en-US" sz="1400" dirty="0"/>
          </a:p>
        </p:txBody>
      </p:sp>
      <p:sp>
        <p:nvSpPr>
          <p:cNvPr id="79" name="Text 77"/>
          <p:cNvSpPr/>
          <p:nvPr/>
        </p:nvSpPr>
        <p:spPr>
          <a:xfrm>
            <a:off x="4553712" y="3172968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-2.2%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8065008" y="2148840"/>
            <a:ext cx="3493008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065008" y="214884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564624" y="190195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9710928" y="20299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3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8266176" y="2624328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AOV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8266176" y="2862072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£441.26</a:t>
            </a:r>
            <a:endParaRPr lang="en-US" sz="1400" dirty="0"/>
          </a:p>
        </p:txBody>
      </p:sp>
      <p:sp>
        <p:nvSpPr>
          <p:cNvPr id="86" name="Text 84"/>
          <p:cNvSpPr/>
          <p:nvPr/>
        </p:nvSpPr>
        <p:spPr>
          <a:xfrm>
            <a:off x="8266176" y="3172968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A66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+11.1%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640080" y="4050792"/>
            <a:ext cx="3493008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40080" y="4050792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2139696" y="3803904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2286000" y="39319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4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841248" y="4526280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Clicks</a:t>
            </a:r>
            <a:endParaRPr lang="en-US" sz="1000" dirty="0"/>
          </a:p>
        </p:txBody>
      </p:sp>
      <p:sp>
        <p:nvSpPr>
          <p:cNvPr id="92" name="Text 90"/>
          <p:cNvSpPr/>
          <p:nvPr/>
        </p:nvSpPr>
        <p:spPr>
          <a:xfrm>
            <a:off x="841248" y="4764024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42,050,161</a:t>
            </a:r>
            <a:endParaRPr lang="en-US" sz="1400" dirty="0"/>
          </a:p>
        </p:txBody>
      </p:sp>
      <p:sp>
        <p:nvSpPr>
          <p:cNvPr id="93" name="Text 91"/>
          <p:cNvSpPr/>
          <p:nvPr/>
        </p:nvSpPr>
        <p:spPr>
          <a:xfrm>
            <a:off x="841248" y="5074920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-19.7%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4352544" y="4050792"/>
            <a:ext cx="3493008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4352544" y="4050792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5852160" y="3803904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998464" y="39319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5</a:t>
            </a:r>
            <a:endParaRPr lang="en-US" sz="900" dirty="0"/>
          </a:p>
        </p:txBody>
      </p:sp>
      <p:sp>
        <p:nvSpPr>
          <p:cNvPr id="98" name="Text 96"/>
          <p:cNvSpPr/>
          <p:nvPr/>
        </p:nvSpPr>
        <p:spPr>
          <a:xfrm>
            <a:off x="4553712" y="4526280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Conv Rate</a:t>
            </a:r>
            <a:endParaRPr lang="en-US" sz="1000" dirty="0"/>
          </a:p>
        </p:txBody>
      </p:sp>
      <p:sp>
        <p:nvSpPr>
          <p:cNvPr id="99" name="Text 97"/>
          <p:cNvSpPr/>
          <p:nvPr/>
        </p:nvSpPr>
        <p:spPr>
          <a:xfrm>
            <a:off x="4553712" y="4764024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0.13%</a:t>
            </a:r>
            <a:endParaRPr lang="en-US" sz="1400" dirty="0"/>
          </a:p>
        </p:txBody>
      </p:sp>
      <p:sp>
        <p:nvSpPr>
          <p:cNvPr id="100" name="Text 98"/>
          <p:cNvSpPr/>
          <p:nvPr/>
        </p:nvSpPr>
        <p:spPr>
          <a:xfrm>
            <a:off x="4553712" y="5074920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A66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+9.6%</a:t>
            </a:r>
            <a:endParaRPr lang="en-US" sz="1000" dirty="0"/>
          </a:p>
        </p:txBody>
      </p:sp>
      <p:sp>
        <p:nvSpPr>
          <p:cNvPr id="101" name="Text 99"/>
          <p:cNvSpPr/>
          <p:nvPr/>
        </p:nvSpPr>
        <p:spPr>
          <a:xfrm>
            <a:off x="640080" y="56235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Conversion improved despite softer traffic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KPI Summary Table: Volume &amp; Conversion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Detailed breakdown of traffic, sales and conversion performance vs prior year.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Volume &amp; Conversion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" y="1783080"/>
          <a:ext cx="11109960" cy="4434840"/>
        </p:xfrm>
        <a:graphic>
          <a:graphicData uri="http://schemas.openxmlformats.org/drawingml/2006/table">
            <a:tbl>
              <a:tblPr/>
              <a:tblGrid>
                <a:gridCol w="2221992"/>
                <a:gridCol w="2221992"/>
                <a:gridCol w="2221992"/>
                <a:gridCol w="2221992"/>
                <a:gridCol w="2221992"/>
              </a:tblGrid>
              <a:tr h="739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Metric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Period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Prior Year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% Variance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Clicks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42,050,161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52,364,355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-10,314,194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-19.7%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Sales (Transactions)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54,562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61,984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-7,422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-12.0%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Conversion Rate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0.13%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0.12%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+0.01%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+9.6%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Average Order Value (AOV)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£441.26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£397.01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+£44.25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+11.1%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Order Value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£24,076,021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£24,608,446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-£532,425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-2.2%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69" name="Shape 66"/>
          <p:cNvSpPr/>
          <p:nvPr/>
        </p:nvSpPr>
        <p:spPr>
          <a:xfrm>
            <a:off x="640080" y="58978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868680" y="60716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Conversion rate and AOV should be interpreted together with click and sales volume.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KPI Summary Table: Cost, CPA &amp; ROI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spend efficiency and return on investment vs prior year.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Cost, CPA &amp; ROI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" y="1783080"/>
          <a:ext cx="11109960" cy="4434840"/>
        </p:xfrm>
        <a:graphic>
          <a:graphicData uri="http://schemas.openxmlformats.org/drawingml/2006/table">
            <a:tbl>
              <a:tblPr/>
              <a:tblGrid>
                <a:gridCol w="2221992"/>
                <a:gridCol w="2221992"/>
                <a:gridCol w="2221992"/>
                <a:gridCol w="2221992"/>
                <a:gridCol w="2221992"/>
              </a:tblGrid>
              <a:tr h="8869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Metric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Period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Prior Year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% Variance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8869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 Commission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£903,086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£935,460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-£32,374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-3.5%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8869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Commission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£903,086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£935,460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-£32,374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-3.5%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8869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Cost Per Acquisition (CPA)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£16.55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£15.09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+£1.46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+9.7%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8869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Return on Investment (ROI)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26.66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26.31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+0.35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+1.3%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69" name="Shape 66"/>
          <p:cNvSpPr/>
          <p:nvPr/>
        </p:nvSpPr>
        <p:spPr>
          <a:xfrm>
            <a:off x="640080" y="58978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868680" y="60716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ROI = Total Order Value / Total Commission. Higher ROI indicates greater return per unit of commission spend.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Program-Level Breakdown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Program-level contribution across the selected scope.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Program-Level Breakdown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" y="1783080"/>
          <a:ext cx="11109960" cy="4434840"/>
        </p:xfrm>
        <a:graphic>
          <a:graphicData uri="http://schemas.openxmlformats.org/drawingml/2006/table">
            <a:tbl>
              <a:tblPr/>
              <a:tblGrid>
                <a:gridCol w="1851660"/>
                <a:gridCol w="1851660"/>
                <a:gridCol w="1851660"/>
                <a:gridCol w="1851660"/>
                <a:gridCol w="1851660"/>
                <a:gridCol w="1851660"/>
              </a:tblGrid>
              <a:tr h="11087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Program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Program ID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OV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OV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Sales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Sales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11087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HP Store UK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12345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£12,544,201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-1.8%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28,411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-10.2%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11087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HP Store Germany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23456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�,�8,904,115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-3.6%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19,084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-13.4%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11087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HP Store Netherlands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34567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�,�2,627,705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+4.2%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7,067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-2.1%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863840" y="-365760"/>
            <a:ext cx="3017520" cy="2286000"/>
          </a:xfrm>
          <a:prstGeom prst="hexagon">
            <a:avLst/>
          </a:prstGeom>
          <a:solidFill>
            <a:srgbClr val="F3F4F6">
              <a:alpha val="1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601200" y="-45720"/>
            <a:ext cx="2651760" cy="2103120"/>
          </a:xfrm>
          <a:prstGeom prst="hexagon">
            <a:avLst/>
          </a:prstGeom>
          <a:solidFill>
            <a:srgbClr val="F3F4F6">
              <a:alpha val="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KPI Highlights &amp;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Business Implications</a:t>
            </a:r>
            <a:endParaRPr lang="en-US" sz="2800" dirty="0"/>
          </a:p>
        </p:txBody>
      </p:sp>
      <p:sp>
        <p:nvSpPr>
          <p:cNvPr id="68" name="Text 66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What the numbers mean for the business - key signals and context.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658368" y="1828800"/>
            <a:ext cx="3337560" cy="1691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 December 2025 to 25 March 2026 vs 1 December 2024 to 25 March 2025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4425696" y="1828800"/>
            <a:ext cx="3337560" cy="1691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Sales: 54,562 (-7,422, -12.0%)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8193024" y="1828800"/>
            <a:ext cx="3337560" cy="1691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Order value: £24,076,021 (-£532,425, -2.2%)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640080" y="4261104"/>
            <a:ext cx="10058400" cy="0"/>
          </a:xfrm>
          <a:prstGeom prst="line">
            <a:avLst/>
          </a:prstGeom>
          <a:noFill/>
          <a:ln w="12700">
            <a:solidFill>
              <a:srgbClr val="2A63D5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920240" y="4206240"/>
            <a:ext cx="109728" cy="109728"/>
          </a:xfrm>
          <a:prstGeom prst="ellipse">
            <a:avLst/>
          </a:prstGeom>
          <a:solidFill>
            <a:srgbClr val="2A63D5"/>
          </a:solidFill>
          <a:ln w="12700">
            <a:solidFill>
              <a:srgbClr val="2A63D5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383280" y="4206240"/>
            <a:ext cx="109728" cy="109728"/>
          </a:xfrm>
          <a:prstGeom prst="ellipse">
            <a:avLst/>
          </a:prstGeom>
          <a:solidFill>
            <a:srgbClr val="2A63D5"/>
          </a:solidFill>
          <a:ln w="12700">
            <a:solidFill>
              <a:srgbClr val="2A63D5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846320" y="4206240"/>
            <a:ext cx="109728" cy="109728"/>
          </a:xfrm>
          <a:prstGeom prst="ellipse">
            <a:avLst/>
          </a:prstGeom>
          <a:solidFill>
            <a:srgbClr val="2A63D5"/>
          </a:solidFill>
          <a:ln w="12700">
            <a:solidFill>
              <a:srgbClr val="2A63D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309360" y="4206240"/>
            <a:ext cx="109728" cy="109728"/>
          </a:xfrm>
          <a:prstGeom prst="ellipse">
            <a:avLst/>
          </a:prstGeom>
          <a:solidFill>
            <a:srgbClr val="2A63D5"/>
          </a:solidFill>
          <a:ln w="12700">
            <a:solidFill>
              <a:srgbClr val="2A63D5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772400" y="4206240"/>
            <a:ext cx="109728" cy="109728"/>
          </a:xfrm>
          <a:prstGeom prst="ellipse">
            <a:avLst/>
          </a:prstGeom>
          <a:solidFill>
            <a:srgbClr val="2A63D5"/>
          </a:solidFill>
          <a:ln w="12700">
            <a:solidFill>
              <a:srgbClr val="2A63D5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828800" y="4590288"/>
            <a:ext cx="4526280" cy="16276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AOV: £441.26 (+£44.25, +11.1%)</a:t>
            </a:r>
            <a:endParaRPr lang="en-US" sz="1150" dirty="0"/>
          </a:p>
        </p:txBody>
      </p:sp>
      <p:sp>
        <p:nvSpPr>
          <p:cNvPr id="79" name="Text 77"/>
          <p:cNvSpPr/>
          <p:nvPr/>
        </p:nvSpPr>
        <p:spPr>
          <a:xfrm>
            <a:off x="5577840" y="4590288"/>
            <a:ext cx="4526280" cy="16276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Clicks: 42,050,161 (-10,314,194, -19.7%)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Priority Actions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Three critical focus areas for the next cycle.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640080" y="2331720"/>
            <a:ext cx="3493008" cy="27889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40080" y="2331720"/>
            <a:ext cx="3493008" cy="566928"/>
          </a:xfrm>
          <a:prstGeom prst="rect">
            <a:avLst/>
          </a:prstGeom>
          <a:solidFill>
            <a:srgbClr val="AFC4F5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276856" y="2441448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</a:t>
            </a:r>
            <a:endParaRPr lang="en-US" sz="2000" dirty="0"/>
          </a:p>
        </p:txBody>
      </p:sp>
      <p:sp>
        <p:nvSpPr>
          <p:cNvPr id="70" name="Text 68"/>
          <p:cNvSpPr/>
          <p:nvPr/>
        </p:nvSpPr>
        <p:spPr>
          <a:xfrm>
            <a:off x="841248" y="3154680"/>
            <a:ext cx="31272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 December 2025 to 25 March 2026 vs 1 December 2024 to 25 March 2025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4370832" y="2331720"/>
            <a:ext cx="3493008" cy="27889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370832" y="2331720"/>
            <a:ext cx="3493008" cy="566928"/>
          </a:xfrm>
          <a:prstGeom prst="rect">
            <a:avLst/>
          </a:prstGeom>
          <a:solidFill>
            <a:srgbClr val="AFC4F5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007608" y="2441448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</a:t>
            </a:r>
            <a:endParaRPr lang="en-US" sz="2000" dirty="0"/>
          </a:p>
        </p:txBody>
      </p:sp>
      <p:sp>
        <p:nvSpPr>
          <p:cNvPr id="74" name="Text 72"/>
          <p:cNvSpPr/>
          <p:nvPr/>
        </p:nvSpPr>
        <p:spPr>
          <a:xfrm>
            <a:off x="4572000" y="3154680"/>
            <a:ext cx="31272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Sales: 54,562 (-7,422, -12.0%)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8101584" y="2331720"/>
            <a:ext cx="3493008" cy="27889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101584" y="2331720"/>
            <a:ext cx="3493008" cy="566928"/>
          </a:xfrm>
          <a:prstGeom prst="rect">
            <a:avLst/>
          </a:prstGeom>
          <a:solidFill>
            <a:srgbClr val="AFC4F5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738360" y="2441448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3</a:t>
            </a:r>
            <a:endParaRPr lang="en-US" sz="2000" dirty="0"/>
          </a:p>
        </p:txBody>
      </p:sp>
      <p:sp>
        <p:nvSpPr>
          <p:cNvPr id="78" name="Text 76"/>
          <p:cNvSpPr/>
          <p:nvPr/>
        </p:nvSpPr>
        <p:spPr>
          <a:xfrm>
            <a:off x="8302752" y="3154680"/>
            <a:ext cx="31272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Order value: £24,076,021 (-£532,425, -2.2%)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823960" y="3520440"/>
            <a:ext cx="3383280" cy="2651760"/>
          </a:xfrm>
          <a:prstGeom prst="hexagon">
            <a:avLst/>
          </a:prstGeom>
          <a:solidFill>
            <a:srgbClr val="2F6FF2">
              <a:alpha val="1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89720" y="6263640"/>
            <a:ext cx="3017520" cy="0"/>
          </a:xfrm>
          <a:prstGeom prst="line">
            <a:avLst/>
          </a:prstGeom>
          <a:noFill/>
          <a:ln w="12700">
            <a:solidFill>
              <a:srgbClr val="2F6FF2">
                <a:alpha val="2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Performance Overview</a:t>
            </a:r>
            <a:endParaRPr lang="en-US" sz="2800" dirty="0"/>
          </a:p>
        </p:txBody>
      </p:sp>
      <p:sp>
        <p:nvSpPr>
          <p:cNvPr id="68" name="Text 66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High-level summary of publisher activity, segmentation and YoY movement.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640080" y="2066544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Activity Summary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286000"/>
          <a:ext cx="4937760" cy="3886200"/>
        </p:xfrm>
        <a:graphic>
          <a:graphicData uri="http://schemas.openxmlformats.org/drawingml/2006/table">
            <a:tbl>
              <a:tblPr/>
              <a:tblGrid>
                <a:gridCol w="822960"/>
                <a:gridCol w="822960"/>
                <a:gridCol w="822960"/>
                <a:gridCol w="822960"/>
                <a:gridCol w="822960"/>
                <a:gridCol w="822960"/>
              </a:tblGrid>
              <a:tr h="1295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Segment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Sales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Sales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OV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OV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1295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Voucher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19,221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-10.1%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£7,112,230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-8.4%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18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1295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Content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15,604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+6.8%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£6,108,554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+7.2%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23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71" name="Text 68"/>
          <p:cNvSpPr/>
          <p:nvPr/>
        </p:nvSpPr>
        <p:spPr>
          <a:xfrm>
            <a:off x="5943600" y="1874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Key Observations</a:t>
            </a:r>
            <a:endParaRPr lang="en-US" sz="1800" dirty="0"/>
          </a:p>
        </p:txBody>
      </p:sp>
      <p:sp>
        <p:nvSpPr>
          <p:cNvPr id="72" name="Text 69"/>
          <p:cNvSpPr/>
          <p:nvPr/>
        </p:nvSpPr>
        <p:spPr>
          <a:xfrm>
            <a:off x="5989320" y="2286000"/>
            <a:ext cx="5120640" cy="3886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→ Skimlinks delivered the strongest incremental sales growth, supported by higher order value.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→ Redbrain improved order value year on year despite lower click growth.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→ VoucherCodes remained a large contributor but saw softer sales and order value.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→ TopCashback declined on both sales and clicks year on year.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Top YoY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Growth Publishers</a:t>
            </a:r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 (Top 5)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Publishers delivering the highest absolute order value increases year-over-year.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Top Growth Publishers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" y="1783080"/>
          <a:ext cx="11109960" cy="4434840"/>
        </p:xfrm>
        <a:graphic>
          <a:graphicData uri="http://schemas.openxmlformats.org/drawingml/2006/table">
            <a:tbl>
              <a:tblPr/>
              <a:tblGrid>
                <a:gridCol w="1234440"/>
                <a:gridCol w="1234440"/>
                <a:gridCol w="1234440"/>
                <a:gridCol w="1234440"/>
                <a:gridCol w="1234440"/>
                <a:gridCol w="1234440"/>
                <a:gridCol w="1234440"/>
                <a:gridCol w="1234440"/>
                <a:gridCol w="1234440"/>
              </a:tblGrid>
              <a:tr h="1478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Rank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Site ID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Segment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Sales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Sales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OV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OV YoY 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OV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1478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Skimlinks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18116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Content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9,540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+18.2%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£3,820,210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+£590,200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+18.3%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1478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Redbrain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16055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CSS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6,814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+9.5%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£2,611,402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+£201,331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+8.4%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69" name="Shape 66"/>
          <p:cNvSpPr/>
          <p:nvPr/>
        </p:nvSpPr>
        <p:spPr>
          <a:xfrm>
            <a:off x="640080" y="58978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868680" y="60716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Skimlinks delivered the strongest incremental sales growth, supported by higher order value.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Top YoY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Decline Publishers</a:t>
            </a:r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 (Top 5)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Publishers with the largest absolute order value decreases.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Top Decline Publishers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" y="1783080"/>
          <a:ext cx="11109960" cy="4434840"/>
        </p:xfrm>
        <a:graphic>
          <a:graphicData uri="http://schemas.openxmlformats.org/drawingml/2006/table">
            <a:tbl>
              <a:tblPr/>
              <a:tblGrid>
                <a:gridCol w="1234440"/>
                <a:gridCol w="1234440"/>
                <a:gridCol w="1234440"/>
                <a:gridCol w="1234440"/>
                <a:gridCol w="1234440"/>
                <a:gridCol w="1234440"/>
                <a:gridCol w="1234440"/>
                <a:gridCol w="1234440"/>
                <a:gridCol w="1234440"/>
              </a:tblGrid>
              <a:tr h="2217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Rank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Site ID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Segment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Sales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Sales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OV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OV YoY 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OV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217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VoucherCodes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9921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Voucher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11,240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-14.4%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£4,731,100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-£780,112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-14.2%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69" name="Shape 66"/>
          <p:cNvSpPr/>
          <p:nvPr/>
        </p:nvSpPr>
        <p:spPr>
          <a:xfrm>
            <a:off x="640080" y="58978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868680" y="60716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Declining publishers should be reviewed with account teams and validated before the next QBR cycle.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Top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Current Performers</a:t>
            </a:r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 by Order Value (Top 5)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Highest-performing publishers by current period order value.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Top Current Performers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" y="1783080"/>
          <a:ext cx="11109960" cy="4434840"/>
        </p:xfrm>
        <a:graphic>
          <a:graphicData uri="http://schemas.openxmlformats.org/drawingml/2006/table">
            <a:tbl>
              <a:tblPr/>
              <a:tblGrid>
                <a:gridCol w="1110996"/>
                <a:gridCol w="1110996"/>
                <a:gridCol w="1110996"/>
                <a:gridCol w="1110996"/>
                <a:gridCol w="1110996"/>
                <a:gridCol w="1110996"/>
                <a:gridCol w="1110996"/>
                <a:gridCol w="1110996"/>
                <a:gridCol w="1110996"/>
                <a:gridCol w="1110996"/>
              </a:tblGrid>
              <a:tr h="1478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Rank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Site ID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Segment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Order Value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Sales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Sales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OV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 Commission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CPA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1478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VoucherCodes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9921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Voucher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£4,731,100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11,240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-14.4%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-14.2%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£181,520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£16.15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1478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Skimlinks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18116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Content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£3,820,210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9,540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+18.2%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+18.3%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£152,808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£16.02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69" name="Shape 66"/>
          <p:cNvSpPr/>
          <p:nvPr/>
        </p:nvSpPr>
        <p:spPr>
          <a:xfrm>
            <a:off x="640080" y="58978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868680" y="60716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Trend legend: positive values indicate YoY growth, negative values indicate YoY decline.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823960" y="3520440"/>
            <a:ext cx="3383280" cy="2651760"/>
          </a:xfrm>
          <a:prstGeom prst="hexagon">
            <a:avLst/>
          </a:prstGeom>
          <a:solidFill>
            <a:srgbClr val="2F6FF2">
              <a:alpha val="1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89720" y="6263640"/>
            <a:ext cx="3017520" cy="0"/>
          </a:xfrm>
          <a:prstGeom prst="line">
            <a:avLst/>
          </a:prstGeom>
          <a:noFill/>
          <a:ln w="12700">
            <a:solidFill>
              <a:srgbClr val="2F6FF2">
                <a:alpha val="2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Segment Performance</a:t>
            </a:r>
            <a:endParaRPr lang="en-US" sz="2800" dirty="0"/>
          </a:p>
        </p:txBody>
      </p:sp>
      <p:sp>
        <p:nvSpPr>
          <p:cNvPr id="68" name="Text 66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Order value performance broken down by publisher segment.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640080" y="2148840"/>
            <a:ext cx="5394960" cy="17373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40080" y="2148840"/>
            <a:ext cx="82296" cy="1737360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68680" y="2368296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Voucher: -8.4% YoY</a:t>
            </a:r>
            <a:endParaRPr lang="en-US" sz="1250" dirty="0"/>
          </a:p>
        </p:txBody>
      </p:sp>
      <p:sp>
        <p:nvSpPr>
          <p:cNvPr id="72" name="Shape 70"/>
          <p:cNvSpPr/>
          <p:nvPr/>
        </p:nvSpPr>
        <p:spPr>
          <a:xfrm>
            <a:off x="6217920" y="2148840"/>
            <a:ext cx="5394960" cy="17373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217920" y="2148840"/>
            <a:ext cx="82296" cy="1737360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446520" y="2368296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Content: +7.2% YoY</a:t>
            </a:r>
            <a:endParaRPr lang="en-US" sz="1250" dirty="0"/>
          </a:p>
        </p:txBody>
      </p:sp>
      <p:sp>
        <p:nvSpPr>
          <p:cNvPr id="75" name="Shape 73"/>
          <p:cNvSpPr/>
          <p:nvPr/>
        </p:nvSpPr>
        <p:spPr>
          <a:xfrm>
            <a:off x="640080" y="4114800"/>
            <a:ext cx="5394960" cy="17373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40080" y="4114800"/>
            <a:ext cx="82296" cy="1737360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68680" y="4334256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Segment signal not available.</a:t>
            </a:r>
            <a:endParaRPr lang="en-US" sz="1250" dirty="0"/>
          </a:p>
        </p:txBody>
      </p:sp>
      <p:sp>
        <p:nvSpPr>
          <p:cNvPr id="78" name="Shape 76"/>
          <p:cNvSpPr/>
          <p:nvPr/>
        </p:nvSpPr>
        <p:spPr>
          <a:xfrm>
            <a:off x="6217920" y="4114800"/>
            <a:ext cx="5394960" cy="17373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217920" y="4114800"/>
            <a:ext cx="82296" cy="1737360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446520" y="4334256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Segment signal not available.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Brand New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Publishers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Publishers activated for the first time in the current period.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Brand New Publishers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" y="1783080"/>
          <a:ext cx="11109960" cy="4434840"/>
        </p:xfrm>
        <a:graphic>
          <a:graphicData uri="http://schemas.openxmlformats.org/drawingml/2006/table">
            <a:tbl>
              <a:tblPr/>
              <a:tblGrid>
                <a:gridCol w="2221992"/>
                <a:gridCol w="2221992"/>
                <a:gridCol w="2221992"/>
                <a:gridCol w="2221992"/>
                <a:gridCol w="2221992"/>
              </a:tblGrid>
              <a:tr h="2217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Segment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Sales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OV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CPA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217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69" name="Shape 66"/>
          <p:cNvSpPr/>
          <p:nvPr/>
        </p:nvSpPr>
        <p:spPr>
          <a:xfrm>
            <a:off x="640080" y="58978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868680" y="60716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Brand-new publishers are not included in YoY comparisons until a prior-year baseline exists.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823960" y="3520440"/>
            <a:ext cx="3383280" cy="2651760"/>
          </a:xfrm>
          <a:prstGeom prst="hexagon">
            <a:avLst/>
          </a:prstGeom>
          <a:solidFill>
            <a:srgbClr val="2F6FF2">
              <a:alpha val="1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89720" y="6263640"/>
            <a:ext cx="3017520" cy="0"/>
          </a:xfrm>
          <a:prstGeom prst="line">
            <a:avLst/>
          </a:prstGeom>
          <a:noFill/>
          <a:ln w="12700">
            <a:solidFill>
              <a:srgbClr val="2F6FF2">
                <a:alpha val="2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New &amp; Emerging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Publishers</a:t>
            </a:r>
            <a:endParaRPr lang="en-US" sz="2800" dirty="0"/>
          </a:p>
        </p:txBody>
      </p:sp>
      <p:sp>
        <p:nvSpPr>
          <p:cNvPr id="68" name="Text 66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Early performance signals for publishers still in ramp-up phase.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603504" y="1783080"/>
            <a:ext cx="4983480" cy="1737360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86384" y="2011680"/>
            <a:ext cx="4617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note not available.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5705856" y="1783080"/>
            <a:ext cx="4983480" cy="1737360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888736" y="2011680"/>
            <a:ext cx="4617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note not available.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603504" y="3840480"/>
            <a:ext cx="4983480" cy="1737360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86384" y="4069080"/>
            <a:ext cx="4617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note not available.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5705856" y="3840480"/>
            <a:ext cx="4983480" cy="1737360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888736" y="4069080"/>
            <a:ext cx="4617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note not available.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640080" y="571500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68680" y="588873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Emerging publishers are defined as partners with limited active history; full YoY signal is expected in the next cycle.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New Publisher Prospects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Recommended publishers for activation in the next period.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New Publisher Prospects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" y="1783080"/>
          <a:ext cx="11109960" cy="4434840"/>
        </p:xfrm>
        <a:graphic>
          <a:graphicData uri="http://schemas.openxmlformats.org/drawingml/2006/table">
            <a:tbl>
              <a:tblPr/>
              <a:tblGrid>
                <a:gridCol w="2221992"/>
                <a:gridCol w="2221992"/>
                <a:gridCol w="2221992"/>
                <a:gridCol w="2221992"/>
                <a:gridCol w="2221992"/>
              </a:tblGrid>
              <a:tr h="2217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Segment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Est. OV Potential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Est. Sales Potential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Source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217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69" name="Shape 66"/>
          <p:cNvSpPr/>
          <p:nvPr/>
        </p:nvSpPr>
        <p:spPr>
          <a:xfrm>
            <a:off x="640080" y="58978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868680" y="60716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If no prospects are currently available, populate this slide from the live outreach pipeline.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863840" y="-365760"/>
            <a:ext cx="3017520" cy="2286000"/>
          </a:xfrm>
          <a:prstGeom prst="hexagon">
            <a:avLst/>
          </a:prstGeom>
          <a:solidFill>
            <a:srgbClr val="F3F4F6">
              <a:alpha val="1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601200" y="-45720"/>
            <a:ext cx="2651760" cy="2103120"/>
          </a:xfrm>
          <a:prstGeom prst="hexagon">
            <a:avLst/>
          </a:prstGeom>
          <a:solidFill>
            <a:srgbClr val="F3F4F6">
              <a:alpha val="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Strategic Recommendations</a:t>
            </a:r>
            <a:endParaRPr lang="en-US" sz="2800" dirty="0"/>
          </a:p>
        </p:txBody>
      </p:sp>
      <p:sp>
        <p:nvSpPr>
          <p:cNvPr id="68" name="Shape 66"/>
          <p:cNvSpPr/>
          <p:nvPr/>
        </p:nvSpPr>
        <p:spPr>
          <a:xfrm>
            <a:off x="493776" y="1773936"/>
            <a:ext cx="310896" cy="310896"/>
          </a:xfrm>
          <a:prstGeom prst="roundRect">
            <a:avLst/>
          </a:prstGeom>
          <a:solidFill>
            <a:srgbClr val="F3F4F6">
              <a:alpha val="8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85216" y="1837944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914400" y="1737360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1. 1 December 2025 to 25 March 2026 vs 1 December 2024 to 25 March 2025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493776" y="2825496"/>
            <a:ext cx="310896" cy="310896"/>
          </a:xfrm>
          <a:prstGeom prst="roundRect">
            <a:avLst/>
          </a:prstGeom>
          <a:solidFill>
            <a:srgbClr val="F3F4F6">
              <a:alpha val="8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85216" y="2889504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914400" y="2788920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2. Sales: 54,562 (-7,422, -12.0%)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493776" y="3877056"/>
            <a:ext cx="310896" cy="310896"/>
          </a:xfrm>
          <a:prstGeom prst="roundRect">
            <a:avLst/>
          </a:prstGeom>
          <a:solidFill>
            <a:srgbClr val="F3F4F6">
              <a:alpha val="8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85216" y="3941064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3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914400" y="3840480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3. Order value: £24,076,021 (-£532,425, -2.2%)</a:t>
            </a:r>
            <a:endParaRPr lang="en-US" sz="1300" dirty="0"/>
          </a:p>
        </p:txBody>
      </p:sp>
      <p:sp>
        <p:nvSpPr>
          <p:cNvPr id="77" name="Shape 75"/>
          <p:cNvSpPr/>
          <p:nvPr/>
        </p:nvSpPr>
        <p:spPr>
          <a:xfrm>
            <a:off x="493776" y="4928616"/>
            <a:ext cx="310896" cy="310896"/>
          </a:xfrm>
          <a:prstGeom prst="roundRect">
            <a:avLst/>
          </a:prstGeom>
          <a:solidFill>
            <a:srgbClr val="F3F4F6">
              <a:alpha val="8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85216" y="4992624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4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914400" y="4892040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4. AOV: £441.26 (+£44.25, +11.1%)</a:t>
            </a:r>
            <a:endParaRPr lang="en-US" sz="1300" dirty="0"/>
          </a:p>
        </p:txBody>
      </p:sp>
      <p:sp>
        <p:nvSpPr>
          <p:cNvPr id="80" name="Shape 78"/>
          <p:cNvSpPr/>
          <p:nvPr/>
        </p:nvSpPr>
        <p:spPr>
          <a:xfrm>
            <a:off x="493776" y="5980176"/>
            <a:ext cx="310896" cy="310896"/>
          </a:xfrm>
          <a:prstGeom prst="roundRect">
            <a:avLst/>
          </a:prstGeom>
          <a:solidFill>
            <a:srgbClr val="F3F4F6">
              <a:alpha val="8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85216" y="6044184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5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914400" y="5943600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5. Clicks: 42,050,161 (-10,314,194, -19.7%)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823960" y="3520440"/>
            <a:ext cx="3383280" cy="2651760"/>
          </a:xfrm>
          <a:prstGeom prst="hexagon">
            <a:avLst/>
          </a:prstGeom>
          <a:solidFill>
            <a:srgbClr val="2F6FF2">
              <a:alpha val="1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89720" y="6263640"/>
            <a:ext cx="3017520" cy="0"/>
          </a:xfrm>
          <a:prstGeom prst="line">
            <a:avLst/>
          </a:prstGeom>
          <a:noFill/>
          <a:ln w="12700">
            <a:solidFill>
              <a:srgbClr val="2F6FF2">
                <a:alpha val="2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Risks &amp; Dependencies</a:t>
            </a:r>
            <a:endParaRPr lang="en-US" sz="2800" dirty="0"/>
          </a:p>
        </p:txBody>
      </p:sp>
      <p:sp>
        <p:nvSpPr>
          <p:cNvPr id="68" name="Text 66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Key risks to program performance and mitigation actions.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Risks &amp; Dependencies</a:t>
            </a:r>
            <a:endParaRPr lang="en-US" sz="1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" y="1783080"/>
          <a:ext cx="11109960" cy="4434840"/>
        </p:xfrm>
        <a:graphic>
          <a:graphicData uri="http://schemas.openxmlformats.org/drawingml/2006/table">
            <a:tbl>
              <a:tblPr/>
              <a:tblGrid>
                <a:gridCol w="2777490"/>
                <a:gridCol w="2777490"/>
                <a:gridCol w="2777490"/>
                <a:gridCol w="2777490"/>
              </a:tblGrid>
              <a:tr h="2217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Risk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Impact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Likelihood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Mitigation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217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VoucherCodes performance risk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High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Medium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Validate root cause and agree a short-cycle recovery plan.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863840" y="-365760"/>
            <a:ext cx="3017520" cy="2286000"/>
          </a:xfrm>
          <a:prstGeom prst="hexagon">
            <a:avLst/>
          </a:prstGeom>
          <a:solidFill>
            <a:srgbClr val="F3F4F6">
              <a:alpha val="1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601200" y="-45720"/>
            <a:ext cx="2651760" cy="2103120"/>
          </a:xfrm>
          <a:prstGeom prst="hexagon">
            <a:avLst/>
          </a:prstGeom>
          <a:solidFill>
            <a:srgbClr val="F3F4F6">
              <a:alpha val="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48640" y="5029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HP Store Thank you.</a:t>
            </a:r>
            <a:endParaRPr lang="en-US" sz="3000" dirty="0"/>
          </a:p>
        </p:txBody>
      </p:sp>
      <p:sp>
        <p:nvSpPr>
          <p:cNvPr id="68" name="Shape 66"/>
          <p:cNvSpPr/>
          <p:nvPr/>
        </p:nvSpPr>
        <p:spPr>
          <a:xfrm>
            <a:off x="274320" y="1143000"/>
            <a:ext cx="11640312" cy="5257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48640" y="16459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Any Questions?</a:t>
            </a:r>
            <a:endParaRPr lang="en-US" sz="3000" dirty="0"/>
          </a:p>
        </p:txBody>
      </p:sp>
      <p:sp>
        <p:nvSpPr>
          <p:cNvPr id="70" name="Text 68"/>
          <p:cNvSpPr/>
          <p:nvPr/>
        </p:nvSpPr>
        <p:spPr>
          <a:xfrm>
            <a:off x="548640" y="235915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TD Affiliate Program - 2025-12-01 to 2026-03-25 Quarterly Business Review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548640" y="2926080"/>
            <a:ext cx="4572000" cy="1828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Confirm action owners and deadlines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Share this report with stakeholders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Schedule next QBR checkpoint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5303520" y="2926080"/>
            <a:ext cx="5303520" cy="1645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Prepared by: HP Store team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Role: Affiliate Program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Date: 2025-12-01 to 2026-03-25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594360" y="50749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td</a:t>
            </a:r>
            <a:endParaRPr lang="en-US" sz="8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Appendix: Program YoY Table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Program YoY Table</a:t>
            </a:r>
            <a:endParaRPr lang="en-US" sz="1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" y="1783080"/>
          <a:ext cx="11109960" cy="4709160"/>
        </p:xfrm>
        <a:graphic>
          <a:graphicData uri="http://schemas.openxmlformats.org/drawingml/2006/table">
            <a:tbl>
              <a:tblPr/>
              <a:tblGrid>
                <a:gridCol w="2221992"/>
                <a:gridCol w="2221992"/>
                <a:gridCol w="2221992"/>
                <a:gridCol w="2221992"/>
                <a:gridCol w="2221992"/>
              </a:tblGrid>
              <a:tr h="4709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Metric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Previous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Difference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Variance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Clicks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42,050,161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52,364,355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-10,314,194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-19.7%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Sales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54,562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61,984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-7,422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-12.0%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Conv Rate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0.13%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0.12%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+0.01%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+9.6%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Order value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£24,076,021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£24,608,446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-£532,425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-2.2%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AOV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£441.26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£397.01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+£44.25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+11.1%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 Commission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£903,086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£935,460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-£32,374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-3.5%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Commission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£903,086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£935,460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-£32,374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-3.5%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CPA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£16.55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£15.09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+£1.46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+9.7%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ROI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26.66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26.31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+0.35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+1.3%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Tradedoubler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QBR - HP Store</dc:title>
  <dc:subject>Quarterly business review</dc:subject>
  <dc:creator>QBR PPTX Service</dc:creator>
  <cp:lastModifiedBy>QBR PPTX Service</cp:lastModifiedBy>
  <cp:revision>1</cp:revision>
  <dcterms:created xsi:type="dcterms:W3CDTF">2026-04-07T10:09:18Z</dcterms:created>
  <dcterms:modified xsi:type="dcterms:W3CDTF">2026-04-07T10:09:18Z</dcterms:modified>
</cp:coreProperties>
</file>