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YoY variance by KPI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%</c:v>
                </c:pt>
              </c:strCache>
            </c:strRef>
          </c:tx>
          <c:spPr>
            <a:solidFill>
              <a:srgbClr val="2B7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Sales</c:v>
                  </c:pt>
                  <c:pt idx="1">
                    <c:v>Order value</c:v>
                  </c:pt>
                  <c:pt idx="2">
                    <c:v>AOV</c:v>
                  </c:pt>
                  <c:pt idx="3">
                    <c:v>Clicks</c:v>
                  </c:pt>
                  <c:pt idx="4">
                    <c:v>Conv Rate</c:v>
                  </c:pt>
                  <c:pt idx="5">
                    <c:v>Publ Commission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-18.6</c:v>
                </c:pt>
                <c:pt idx="1">
                  <c:v>-10.6</c:v>
                </c:pt>
                <c:pt idx="2">
                  <c:v>9.9</c:v>
                </c:pt>
                <c:pt idx="3">
                  <c:v>-49.6</c:v>
                </c:pt>
                <c:pt idx="4">
                  <c:v>61.4</c:v>
                </c:pt>
                <c:pt idx="5">
                  <c:v>-13.3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5072" cy="6858000"/>
          </a:xfrm>
          <a:prstGeom prst="rect">
            <a:avLst/>
          </a:prstGeom>
          <a:solidFill>
            <a:srgbClr val="ECE9E3"/>
          </a:solidFill>
          <a:ln w="12700">
            <a:solidFill>
              <a:srgbClr val="ECE9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621792"/>
            <a:ext cx="2057400" cy="2057400"/>
          </a:xfrm>
          <a:prstGeom prst="ellipse">
            <a:avLst/>
          </a:prstGeom>
          <a:solidFill>
            <a:srgbClr val="2B73FF">
              <a:alpha val="84000"/>
            </a:srgbClr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30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316736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- HP Store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2026-01-01 to 2026-04-07 vs 2025-01-01 to 2025-04-07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7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performance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279392"/>
            <a:ext cx="4937760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Client: HP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Language: English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Currency: EUR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6384" y="12252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" y="188366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2026-01-01 to 2026-04-07 vs 2025-01-01 to 2025-04-07. Focus: General performance review.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596896"/>
            <a:ext cx="4846320" cy="3218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January 2026 to 7 April 2026 vs 1 January 2025 to 7 April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Sales: 35,931 (−8,225; −18.6%)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Clicks: 18,579,001 (−18,281,050; −49.6%)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 Rate: 0.19% (+0.07%; +61.4%)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value: €16,881,684 (−€2,002,513; −10.6%)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82512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35,931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-18.6%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0456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€16,881,684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-10.6%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204704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1008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51008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€469.84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51008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+9.9%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2026-01-01 to 2026-04-07 vs 2025-01-01 to 2025-04-07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0976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35,931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-18.6%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35224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€16,881,684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35224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-10.6%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€469.84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19472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+9.9%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18,579,001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-49.6%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35224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35224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0.19%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935224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+61.4%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27.64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19472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 Overview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6384" y="12252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" y="2596896"/>
            <a:ext cx="4846320" cy="3218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January 2026 to 7 April 2026 vs 1 January 2025 to 7 April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Sales: 35,931 (−8,225; −18.6%)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Clicks: 18,579,001 (−18,281,050; −49.6%)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 Rate: 0.19% (+0.07%; +61.4%)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value: €16,881,684 (−€2,002,513; −10.6%)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199632" y="1280160"/>
          <a:ext cx="5138928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1534580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3,330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+1981.3%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€1,615,538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€1,545,288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+2199.7%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3048432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2,715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+389.2%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€1,479,570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€1,233,757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+501.9%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Incentive Networks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1272528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+678.9%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€238,189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€179,673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+307.1%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HotUKDeals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1018132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1,175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€533,516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€533,516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UNiDAYS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1970762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€1,362,158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-€915,854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1503186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1,600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+138.8%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€716,796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€521,377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+266.8%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CSS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3051105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2,252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€1,823,240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€705,257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HerculesGadgets - Dutch - SocialME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3319903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€305,154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€305,154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Shoptastic GB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3348437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€400,480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€400,480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EverySaving.co.uk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2803474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€264,647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€264,647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Limited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2235216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4,613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-41.8%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€1,492,739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-€765,048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Light Card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1550824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Cashback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8,130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€3,103,522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-€411,727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YieldKit.com (CH)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2300289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-52.1%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€1,235,430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-€1,212,984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Atolls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2856934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-86.0%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€188,699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-€1,433,777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-88.4%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digidip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2142931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-97.7%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€18,245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-€398,875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-95.6%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Nextjump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1338297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-66.4%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€430,772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-€579,797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VigLink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1736887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€53,878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-€926,700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-94.5%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1797820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-58.1%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€530,873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-€667,603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-55.7%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Brandsforemployees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3339007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-86.8%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€179,603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-€1,117,406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-86.2%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 Vip District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1767726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952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€488,280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-€483,749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1131200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Cashback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€3,905,007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7,218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€114,890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€15.92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Light Card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1550824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Cashback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€3,103,522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8,130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€42,849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€5.27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CSS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3051105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€1,823,240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2,252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€78,995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€35.08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1534580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€1,615,538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3,330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+1981.3%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+2199.7%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Limited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2235216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€1,492,739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4,613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-41.8%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3048432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€1,479,570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2,715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+389.2%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+501.9%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€92,954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€34.24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UNiDAYS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1970762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€1,362,158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€19,894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€2.90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YieldKit.com (CH)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2300289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€1,235,430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-52.1%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€32,582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€12.64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2819631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€1,130,383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+12.6%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Quidco [UK]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1089147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Cashback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€1,019,335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2,076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-31.4%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€31,639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€15.24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5,730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+100.0%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€2,585,535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+203.4%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17,470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-18.9%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€8,043,418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47,221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€19,060,982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-29.5%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€268,959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3,949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€2,859,235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Sales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Sales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1534580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3,330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3,170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+1981.3%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3048432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2,715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2,160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+389.2%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Incentive Networks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1272528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1,290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+678.9%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UNiDAYS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1970762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1503186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1,600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+138.8%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CSS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3051105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2,252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922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2819631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Preispirat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2877964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+70.2%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PriceSpy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2047326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+275.0%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Zilch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3185509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+105.9%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Limited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2235216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4,613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-3,318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-41.8%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Light Card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1550824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8,130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-2,900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YieldKit.com (CH)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2300289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-2,808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-52.1%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Atolls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2856934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-2,735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-86.0%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digidip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2142931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-2,077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-97.7%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Nextjump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1338297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-1,866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-66.4%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VigLink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1736887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-1,835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1797820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-1,575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-58.1%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Brandsforemployees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3339007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-1,502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-86.8%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 Vip District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1767726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952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-1,303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Order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Order Value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1534580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€1,615,538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€1,545,288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+2199.7%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3048432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€1,479,570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€1,233,757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+501.9%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CSS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3051105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€1,823,240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€705,257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1503186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€716,796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€521,377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+266.8%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Incentive Networks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1272528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€238,189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€179,673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+307.1%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Preispirat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2877964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€310,666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€171,096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+122.6%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2819631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€1,130,383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€126,459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+12.6%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Cupones.es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3421162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€62,821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€57,555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+1093.1%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easyfundraising.org.uk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981775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€746,642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€46,122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Beans UK (a Pion brand)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1204040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€617,850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€44,885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Atolls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2856934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€188,699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-€1,433,777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-88.4%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YieldKit.com (CH)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2300289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€1,235,430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-€1,212,984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Brandsforemployees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3339007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€179,603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-€1,117,406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-86.2%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VigLink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1736887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€53,878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-€926,700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-94.5%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UNiDAYS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1970762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€1,362,158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-€915,854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Limited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2235216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€1,492,739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-€765,048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Delupe CSS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3197261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€424,933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-€677,719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-61.5%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1797820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€530,873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-€667,603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-55.7%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Nextjump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1338297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€430,772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-€579,797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 Vip District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1767726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€488,280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-€483,749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Clicks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Clicks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2819631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1,595,730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1,324,490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+488.3%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3048432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191,005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153,450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+408.6%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HakuDeals -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3271845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153,320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111,140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+263.5%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 CSS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3051105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111,092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57,817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+108.5%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1534580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42,395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38,975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+1139.6%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Beans UK (a Pion brand)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1204040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79,620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38,300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+92.7%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Preispirat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2877964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48,245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25,361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+110.8%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TOTUM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3273991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7,300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7,258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+17281.0%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EverySaving.co.uk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2803474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6,285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6,283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+314150.0%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idealo.es (ES)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1014339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11,824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5,754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+94.8%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YieldKit.com (CH)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2300289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6,111,390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-3,045,805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Limited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2235216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2,246,342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-1,041,985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-31.7%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CRITEO AFFILIATION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1797820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265,560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-1,041,750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digidip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2434087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8,264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-206,372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-96.1%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digidip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2142931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2,368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-181,082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-98.7%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Light Card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1550824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141,535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-57,895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-29.0%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Globerada CSS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2887231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13,565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-46,720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-77.5%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https://www.quantcast.com (CH)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3122049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-44,835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Nextjump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1338297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39,844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-42,336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-51.5%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Delupe CSS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3197261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21,192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-40,058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AOV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AOV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Studentdiscount.co.uk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3081435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€2,493.00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€2,342.46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+1556.1%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Chollo.es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3052442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€1,321.49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€1,208.20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+1066.5%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 Karma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3311216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€1,518.86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€867.05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+133.0%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Cuponation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2385592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€1,291.54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€677.89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+110.5%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Voucherbox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2341251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€711.66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€664.54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+1410.3%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Rewardo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1878518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€721.36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€639.76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+784.0%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Buykers.com (ES)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2961245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€1,271.08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€556.33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+77.8%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vouchercloud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1688307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€731.86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€449.58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+159.3%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Toppreise.ch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982939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€1,164.58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€418.05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+56.0%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PIB Employee Benefits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2520353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€947.05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€410.54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+76.5%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Kindred Switzerland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3287309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€90.21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-€2,410.28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-96.4%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Shopmart 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2217100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-€2,059.10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Rakuten.es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2944263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-€1,730.39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Bravogutschein.ch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3270395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-€1,259.66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NMM El Independiente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3266759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-€1,231.05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Reward All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2974583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-€962.89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gutscheine4free.ch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2341277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-€906.31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Hatch UK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2104051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-€844.55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NMM OK Diario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3228783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-€826.92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Picodi 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3017268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-€806.98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-100.0%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078992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98448"/>
          <a:ext cx="10533888" cy="4892040"/>
        </p:xfrm>
        <a:graphic>
          <a:graphicData uri="http://schemas.openxmlformats.org/drawingml/2006/table">
            <a:tbl>
              <a:tblPr/>
              <a:tblGrid>
                <a:gridCol w="2106778"/>
                <a:gridCol w="2106778"/>
                <a:gridCol w="2106778"/>
                <a:gridCol w="2106778"/>
                <a:gridCol w="2106778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18,579,001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36,860,051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-18,281,050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35,931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44,156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-8,225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+61.4%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€16,881,684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€18,884,197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-€2,002,513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€469.84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€427.67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€42.17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€610,795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€704,428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-€93,633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€610,795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€704,428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-€93,633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€17.00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€15.95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€1.05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27.64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26.81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0.83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2026-04-07T09:31:13Z</dcterms:created>
  <dcterms:modified xsi:type="dcterms:W3CDTF">2026-04-07T09:31:13Z</dcterms:modified>
</cp:coreProperties>
</file>