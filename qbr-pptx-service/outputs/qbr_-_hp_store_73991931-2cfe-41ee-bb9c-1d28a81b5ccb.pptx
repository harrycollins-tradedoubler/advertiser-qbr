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0"/>
            <a:ext cx="4005072" cy="6858000"/>
          </a:xfrm>
          <a:prstGeom prst="rect">
            <a:avLst/>
          </a:prstGeom>
          <a:solidFill>
            <a:srgbClr val="ECE9E3"/>
          </a:solidFill>
          <a:ln w="12700">
            <a:solidFill>
              <a:srgbClr val="ECE9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22208" y="621792"/>
            <a:ext cx="2057400" cy="2057400"/>
          </a:xfrm>
          <a:prstGeom prst="ellipse">
            <a:avLst/>
          </a:prstGeom>
          <a:solidFill>
            <a:srgbClr val="2B73FF">
              <a:alpha val="84000"/>
            </a:srgbClr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5303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316736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QBR - HP Store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49808" y="226771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2025-12-01 to 2026-03-25 vs 2024-12-01 to 2025-03-25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2779776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7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improved despite softer traffic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9808" y="3566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sales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4279392"/>
            <a:ext cx="4937760" cy="1353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Client: HP Store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Language: English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Currency: GBP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86384" y="122529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improved despite softer traffic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04672" y="1883664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2025-12-01 to 2026-03-25 vs 2024-12-01 to 2025-03-25. Focus: Increase sales.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596896"/>
            <a:ext cx="4846320" cy="32186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 December 2025 to 25 March 2026 vs 1 December 2024 to 25 March 2025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Sales: 54,562 (-7,422, -12.0%)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value: £24,076,021 (-£532,425, -2.2%)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AOV: £441.26 (+£44.25, +11.1%)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Clicks: 42,050,161 (-10,314,194, -19.7%)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6208" y="1280160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4081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82512" y="160934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54,562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82512" y="20299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-12.0%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20456" y="1280160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4081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160934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£24,076,021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66760" y="20299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-2.2%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204704" y="1280160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51008" y="14081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351008" y="160934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£441.26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351008" y="20299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C8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+11.1%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Snapshot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" y="8961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2025-12-01 to 2026-03-25 vs 2024-12-01 to 2025-03-25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" y="1572768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70078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50976" y="190195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54,562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0976" y="23225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-12.0%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88920" y="1572768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35224" y="170078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35224" y="190195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£24,076,021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935224" y="23225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-2.2%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73168" y="1572768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70078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AOV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19472" y="190195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£441.26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19472" y="23225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C8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+11.1%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4672" y="2798064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29260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50976" y="31272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42,050,161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0976" y="35478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-19.7%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88920" y="2798064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35224" y="29260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 Rate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35224" y="31272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0.13%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935224" y="35478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C8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+9.6%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73168" y="2798064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9260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19472" y="31272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26.66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919472" y="35478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C8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+1.3%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Breakdown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" y="8961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2025-12-01 to 2026-03-25 vs 2024-12-01 to 2025-03-25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152144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Breakdown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371600"/>
          <a:ext cx="10533888" cy="4572000"/>
        </p:xfrm>
        <a:graphic>
          <a:graphicData uri="http://schemas.openxmlformats.org/drawingml/2006/table">
            <a:tbl>
              <a:tblPr/>
              <a:tblGrid>
                <a:gridCol w="1755648"/>
                <a:gridCol w="1755648"/>
                <a:gridCol w="1755648"/>
                <a:gridCol w="1755648"/>
                <a:gridCol w="1755648"/>
                <a:gridCol w="1755648"/>
              </a:tblGrid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OV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Sales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YoY 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12345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£12,544,201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28,411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Germany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23456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€8,904,115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19,084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Netherlands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34567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€2,627,705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7,067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Growth Publishers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152144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Growth Publishers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371600"/>
          <a:ext cx="10533888" cy="4572000"/>
        </p:xfrm>
        <a:graphic>
          <a:graphicData uri="http://schemas.openxmlformats.org/drawingml/2006/table">
            <a:tbl>
              <a:tblPr/>
              <a:tblGrid>
                <a:gridCol w="1316736"/>
                <a:gridCol w="1316736"/>
                <a:gridCol w="1316736"/>
                <a:gridCol w="1316736"/>
                <a:gridCol w="1316736"/>
                <a:gridCol w="1316736"/>
                <a:gridCol w="1316736"/>
                <a:gridCol w="1316736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ID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Segment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OV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Change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Skimlinks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18116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Content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9,540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£3,820,210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+£590,200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Redbrain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16055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6,814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£2,611,402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+£201,331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Declining Publishers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152144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Declining Publishers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371600"/>
          <a:ext cx="10533888" cy="4572000"/>
        </p:xfrm>
        <a:graphic>
          <a:graphicData uri="http://schemas.openxmlformats.org/drawingml/2006/table">
            <a:tbl>
              <a:tblPr/>
              <a:tblGrid>
                <a:gridCol w="1316736"/>
                <a:gridCol w="1316736"/>
                <a:gridCol w="1316736"/>
                <a:gridCol w="1316736"/>
                <a:gridCol w="1316736"/>
                <a:gridCol w="1316736"/>
                <a:gridCol w="1316736"/>
                <a:gridCol w="1316736"/>
              </a:tblGrid>
              <a:tr h="2286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ID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Segment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OV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Change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286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VoucherCodes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9921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11,240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£4,731,100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-£780,112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Current Performers by Order Value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152144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Current Performers by Order Value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371600"/>
          <a:ext cx="10533888" cy="4572000"/>
        </p:xfrm>
        <a:graphic>
          <a:graphicData uri="http://schemas.openxmlformats.org/drawingml/2006/table">
            <a:tbl>
              <a:tblPr/>
              <a:tblGrid>
                <a:gridCol w="1170432"/>
                <a:gridCol w="1170432"/>
                <a:gridCol w="1170432"/>
                <a:gridCol w="1170432"/>
                <a:gridCol w="1170432"/>
                <a:gridCol w="1170432"/>
                <a:gridCol w="1170432"/>
                <a:gridCol w="1170432"/>
                <a:gridCol w="1170432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ID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Segment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VoucherCodes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9921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£4,731,100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11,240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£181,520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£16.15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Skimlinks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18116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Content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£3,820,210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9,540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£152,808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£16.02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Snapshot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152144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Snapshot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371600"/>
          <a:ext cx="10533888" cy="4572000"/>
        </p:xfrm>
        <a:graphic>
          <a:graphicData uri="http://schemas.openxmlformats.org/drawingml/2006/table">
            <a:tbl>
              <a:tblPr/>
              <a:tblGrid>
                <a:gridCol w="1755648"/>
                <a:gridCol w="1755648"/>
                <a:gridCol w="1755648"/>
                <a:gridCol w="1755648"/>
                <a:gridCol w="1755648"/>
                <a:gridCol w="1755648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Segment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Sales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YoY 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OV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19,221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£7,112,230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15,604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+6.8%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£6,108,554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Appendix: Program YoY Table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078992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YoY Table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298448"/>
          <a:ext cx="10533888" cy="4892040"/>
        </p:xfrm>
        <a:graphic>
          <a:graphicData uri="http://schemas.openxmlformats.org/drawingml/2006/table">
            <a:tbl>
              <a:tblPr/>
              <a:tblGrid>
                <a:gridCol w="2106778"/>
                <a:gridCol w="2106778"/>
                <a:gridCol w="2106778"/>
                <a:gridCol w="2106778"/>
                <a:gridCol w="2106778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 Rate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AOV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£441.26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£397.01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+£44.25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+11.1%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 Commission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Commission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CPA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£16.55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£15.09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+£1.46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+9.7%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ROI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26.66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26.31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2026-04-07T09:45:03Z</dcterms:created>
  <dcterms:modified xsi:type="dcterms:W3CDTF">2026-04-07T09:45:03Z</dcterms:modified>
</cp:coreProperties>
</file>