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109" name="Text 107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2026-01-01 to 2026-04-07 vs 2025-01-01 to 2025-04-07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General performance review</a:t>
            </a:r>
            <a:endParaRPr lang="en-US" sz="1150" dirty="0"/>
          </a:p>
        </p:txBody>
      </p:sp>
      <p:sp>
        <p:nvSpPr>
          <p:cNvPr id="115" name="Text 113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111" name="Text 109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112" name="Text 110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2026-01-01 to 2026-04-07</a:t>
            </a:r>
            <a:endParaRPr lang="en-US" sz="1400" dirty="0"/>
          </a:p>
        </p:txBody>
      </p:sp>
      <p:sp>
        <p:nvSpPr>
          <p:cNvPr id="113" name="Text 111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2025-01-01 to 2025-04-07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EUR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35,999</a:t>
            </a:r>
            <a:endParaRPr lang="en-US" sz="1400" dirty="0"/>
          </a:p>
        </p:txBody>
      </p:sp>
      <p:sp>
        <p:nvSpPr>
          <p:cNvPr id="115" name="Text 113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-18.5%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€16,912,104</a:t>
            </a:r>
            <a:endParaRPr lang="en-US" sz="1400" dirty="0"/>
          </a:p>
        </p:txBody>
      </p:sp>
      <p:sp>
        <p:nvSpPr>
          <p:cNvPr id="122" name="Text 120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-10.4%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€469.79</a:t>
            </a:r>
            <a:endParaRPr lang="en-US" sz="1400" dirty="0"/>
          </a:p>
        </p:txBody>
      </p:sp>
      <p:sp>
        <p:nvSpPr>
          <p:cNvPr id="129" name="Text 127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+9.8%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0.19%</a:t>
            </a:r>
            <a:endParaRPr lang="en-US" sz="1400" dirty="0"/>
          </a:p>
        </p:txBody>
      </p:sp>
      <p:sp>
        <p:nvSpPr>
          <p:cNvPr id="136" name="Text 134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+61.5%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141" name="Text 139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ROI</a:t>
            </a:r>
            <a:endParaRPr lang="en-US" sz="1000" dirty="0"/>
          </a:p>
        </p:txBody>
      </p:sp>
      <p:sp>
        <p:nvSpPr>
          <p:cNvPr id="142" name="Text 140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27.65</a:t>
            </a:r>
            <a:endParaRPr lang="en-US" sz="1400" dirty="0"/>
          </a:p>
        </p:txBody>
      </p:sp>
      <p:sp>
        <p:nvSpPr>
          <p:cNvPr id="143" name="Text 141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+3.1%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640080" y="5257800"/>
            <a:ext cx="10698480" cy="914400"/>
          </a:xfrm>
          <a:prstGeom prst="roundRect">
            <a:avLst/>
          </a:prstGeom>
          <a:solidFill>
            <a:srgbClr val="F3F4F6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68096" y="542239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HP Store Affiliate Program delivered mixed results in Jan 2026 – Apr 2026. While AOV grew +9.8% to €469.79 and conversion rate improved +61.5%, total sales declined -18.5% YoY driven by a -49.5% reduction in click volume. Total order value decreased -10.4% to €16,912,104. Full KPI breakdown follows on the next slides.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9809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834640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18,602,983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36,860,051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-18,257,068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-49.5%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35,999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44,156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-8,157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0.07%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+61.5%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€469.79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€427.67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€42.12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€16,912,104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€18,884,197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-€1,972,093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9834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51572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€611,664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€704,428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-€92,764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€611,664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€704,428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-€92,764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€16.99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€15.95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€1.04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27.65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26.81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+3.1%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+61.5% (0.12% to 0.19%). Clicks decreased -49.5% while sales decreased -18.5%.</a:t>
            </a:r>
            <a:endParaRPr lang="en-US" sz="1250" dirty="0"/>
          </a:p>
        </p:txBody>
      </p:sp>
      <p:sp>
        <p:nvSpPr>
          <p:cNvPr id="116" name="Text 114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+9.8% (€427.67 to €469.79). Total order value decreased -10.4% (-€1,972,093) despite transaction movement.</a:t>
            </a:r>
            <a:endParaRPr lang="en-US" sz="1250" dirty="0"/>
          </a:p>
        </p:txBody>
      </p:sp>
      <p:sp>
        <p:nvSpPr>
          <p:cNvPr id="117" name="Text 115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+6.5% (€15.95 to €16.99). Publisher commission moved -13.2% YoY.</a:t>
            </a:r>
            <a:endParaRPr lang="en-US" sz="1250" dirty="0"/>
          </a:p>
        </p:txBody>
      </p:sp>
      <p:sp>
        <p:nvSpPr>
          <p:cNvPr id="118" name="Text 116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increased +3.1% (26.81 to 27.65). This reflects order value generated per unit of commission spend.</a:t>
            </a:r>
            <a:endParaRPr lang="en-US" sz="1250" dirty="0"/>
          </a:p>
        </p:txBody>
      </p:sp>
      <p:sp>
        <p:nvSpPr>
          <p:cNvPr id="119" name="Text 117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strongest Sales mover VoucherCodes.co.uk (3,190); largest decline Criteo Limited (-3,304).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640080" y="2286000"/>
            <a:ext cx="4937760" cy="29809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59152"/>
          <a:ext cx="4754880" cy="2834640"/>
        </p:xfrm>
        <a:graphic>
          <a:graphicData uri="http://schemas.openxmlformats.org/drawingml/2006/table">
            <a:tbl>
              <a:tblPr/>
              <a:tblGrid>
                <a:gridCol w="792480"/>
                <a:gridCol w="792480"/>
                <a:gridCol w="792480"/>
                <a:gridCol w="792480"/>
                <a:gridCol w="792480"/>
                <a:gridCol w="792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5,765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+101.2%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€2,620,664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+207.5%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Cashback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17,510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€8,049,508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47,287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-26.7%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€19,076,281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-29.4%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€268,959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CSS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3,953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-5.9%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€2,864,628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-4.9%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3" name="Text 110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114" name="Shape 111"/>
          <p:cNvSpPr/>
          <p:nvPr/>
        </p:nvSpPr>
        <p:spPr>
          <a:xfrm>
            <a:off x="5943600" y="2267712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6108192" y="24688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16" name="Text 113"/>
          <p:cNvSpPr/>
          <p:nvPr/>
        </p:nvSpPr>
        <p:spPr>
          <a:xfrm>
            <a:off x="6309360" y="240487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2026-01-01 to 2026-04-07 vs 2025-01-01 to 2025-04-07</a:t>
            </a:r>
            <a:endParaRPr lang="en-US" sz="1080" dirty="0"/>
          </a:p>
        </p:txBody>
      </p:sp>
      <p:sp>
        <p:nvSpPr>
          <p:cNvPr id="117" name="Shape 114"/>
          <p:cNvSpPr/>
          <p:nvPr/>
        </p:nvSpPr>
        <p:spPr>
          <a:xfrm>
            <a:off x="5943600" y="3191256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6108192" y="339242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19" name="Text 116"/>
          <p:cNvSpPr/>
          <p:nvPr/>
        </p:nvSpPr>
        <p:spPr>
          <a:xfrm>
            <a:off x="6309360" y="332841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VoucherCodes.co.uk (Site ID 1534580) — Current Sales 3,350; Sales YoY % +1993.8%; Current OV €1,643,501; OV YoY Change €1,573,250; OV YoY % +2239.5%</a:t>
            </a:r>
            <a:endParaRPr lang="en-US" sz="1080" dirty="0"/>
          </a:p>
        </p:txBody>
      </p:sp>
      <p:sp>
        <p:nvSpPr>
          <p:cNvPr id="120" name="Shape 117"/>
          <p:cNvSpPr/>
          <p:nvPr/>
        </p:nvSpPr>
        <p:spPr>
          <a:xfrm>
            <a:off x="5943600" y="4114800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6108192" y="43159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22" name="Text 119"/>
          <p:cNvSpPr/>
          <p:nvPr/>
        </p:nvSpPr>
        <p:spPr>
          <a:xfrm>
            <a:off x="6309360" y="425196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RedBrain ES (Site ID 3048432) — Current Sales 2,720; Sales YoY % +390.1%; Current OV €1,479,818; OV YoY Change €1,234,006; OV YoY % +502.0%</a:t>
            </a:r>
            <a:endParaRPr lang="en-US" sz="1080" dirty="0"/>
          </a:p>
        </p:txBody>
      </p:sp>
      <p:sp>
        <p:nvSpPr>
          <p:cNvPr id="123" name="Shape 120"/>
          <p:cNvSpPr/>
          <p:nvPr/>
        </p:nvSpPr>
        <p:spPr>
          <a:xfrm>
            <a:off x="5943600" y="5038344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6108192" y="52395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25" name="Text 122"/>
          <p:cNvSpPr/>
          <p:nvPr/>
        </p:nvSpPr>
        <p:spPr>
          <a:xfrm>
            <a:off x="6309360" y="51755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Incentive Networks (Site ID 1272528) — Current Sales 1,480; Sales YoY % +678.9%; Current OV €238,189; OV YoY Change €179,673; OV YoY % +307.1%</a:t>
            </a:r>
            <a:endParaRPr lang="en-US" sz="1080" dirty="0"/>
          </a:p>
        </p:txBody>
      </p:sp>
      <p:sp>
        <p:nvSpPr>
          <p:cNvPr id="126" name="Shape 123"/>
          <p:cNvSpPr/>
          <p:nvPr/>
        </p:nvSpPr>
        <p:spPr>
          <a:xfrm>
            <a:off x="640080" y="5358384"/>
            <a:ext cx="4937760" cy="0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90365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318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1534580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3,350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3,190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+1993.8%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3048432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2,720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2,165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+390.1%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Incentive Networks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1272528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1,480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1,290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+678.9%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UNiDAYS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1970762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6,875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1,175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+20.6%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1503186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1,605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+139.6%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Criteo Limited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2235216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4,627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-3,304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-41.7%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Blue Light Card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1550824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8,140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-2,890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-26.2%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YieldKit.com (CH)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2300289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2,580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-2,805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-52.1%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Atolls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2856934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-2,735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-86.0%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digidip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2142931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-2,077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-97.7%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90365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318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1534580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€1,643,501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€1,573,250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+2239.5%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3048432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€1,479,818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€1,234,006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+502.0%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CSS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3051105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€1,823,240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€705,257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+63.1%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1503186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€721,610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€526,191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+269.3%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Incentive Networks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1272528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€238,189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€179,673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+307.1%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Atolls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2856934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€188,699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-€1,433,777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YieldKit.com (CH)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2300289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€1,235,430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-€1,212,984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-49.5%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Brandsforemployees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3339007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€179,603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-€1,117,406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-86.2%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VigLink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1736887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€54,142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-€926,436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-94.5%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UNiDAYS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1970762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€1,362,513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-€915,499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-40.2%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90365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318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CRITEO AFFILIATION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2819631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1,595,835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1,324,595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+488.3%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3048432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191,095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153,540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+408.8%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HakuDeals -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3271845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153,348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111,168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+263.6%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CSS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3051105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111,200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57,925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+108.7%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1534580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42,445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39,025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+1141.1%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YieldKit.com (CH)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2300289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6,115,362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-3,041,833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-33.2%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Criteo Limited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2235216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2,246,615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-1,041,712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-31.7%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CRITEO AFFILIATION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1797820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265,835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-1,041,475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digidip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2434087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8,264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-206,372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-96.1%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digidip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2142931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2,372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-181,078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-98.7%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+207.5% YoY</a:t>
            </a:r>
            <a:endParaRPr lang="en-US" sz="1250" dirty="0"/>
          </a:p>
        </p:txBody>
      </p:sp>
      <p:sp>
        <p:nvSpPr>
          <p:cNvPr id="113" name="Shape 111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Cashback: -10.8% YoY</a:t>
            </a:r>
            <a:endParaRPr lang="en-US" sz="1250" dirty="0"/>
          </a:p>
        </p:txBody>
      </p:sp>
      <p:sp>
        <p:nvSpPr>
          <p:cNvPr id="116" name="Shape 114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Other: -29.4% YoY</a:t>
            </a:r>
            <a:endParaRPr lang="en-US" sz="1250" dirty="0"/>
          </a:p>
        </p:txBody>
      </p:sp>
      <p:sp>
        <p:nvSpPr>
          <p:cNvPr id="119" name="Shape 117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-13.9% YoY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9809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834640"/>
        </p:xfrm>
        <a:graphic>
          <a:graphicData uri="http://schemas.openxmlformats.org/drawingml/2006/table">
            <a:tbl>
              <a:tblPr/>
              <a:tblGrid>
                <a:gridCol w="1561011"/>
                <a:gridCol w="1561011"/>
                <a:gridCol w="1561011"/>
                <a:gridCol w="1561011"/>
                <a:gridCol w="1561011"/>
                <a:gridCol w="1561011"/>
                <a:gridCol w="1561011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HotUKDeals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1018132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1,185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€535,413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€10.13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HerculesGadgets - Dutch - SocialME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3319903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870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€305,154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€7.82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Shoptastic GB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3348437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820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€400,480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€10.61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EverySaving.co.uk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2803474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€264,647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€0.00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adnamics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3358509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464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€180,761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€15.58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9834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51572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Voucherbox | €14,233 | 20 sales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VEVE (ES) | €8,407 | 16 sales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i-Reductions Switzerland | €2,392 | 6 sales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Opera Browser UK | €1,788 | 6 sales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January 2026 to 7 April 2026 vs 1 January 2025 to 7 April 2025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35,999 (Difference: -8,157; % Variance: -18.5%)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€16,912,104 (Difference: -€1,972,093; % Variance: -10.4%)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€469.79 (Difference: €42.12; % Variance: +9.8%)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18,602,983 (Difference: -18,257,068; % Variance: -49.5%)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9809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834640"/>
        </p:xfrm>
        <a:graphic>
          <a:graphicData uri="http://schemas.openxmlformats.org/drawingml/2006/table">
            <a:tbl>
              <a:tblPr/>
              <a:tblGrid>
                <a:gridCol w="2731770"/>
                <a:gridCol w="2731770"/>
                <a:gridCol w="2731770"/>
                <a:gridCol w="273177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VoucherCodes.co.uk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CSS CH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 UK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Incentive Networks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109" name="Shape 107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111" name="Text 109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- 2026-01-01 to 2026-04-07 Quarterly Business Review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2026-01-01 to 2026-04-07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2026-04-07T11:24:03Z</dcterms:created>
  <dcterms:modified xsi:type="dcterms:W3CDTF">2026-04-07T11:24:03Z</dcterms:modified>
</cp:coreProperties>
</file>