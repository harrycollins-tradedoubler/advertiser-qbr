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F3F4F6">
              <a:alpha val="3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F3F4F6">
              <a:alpha val="2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F3F4F6">
                <a:alpha val="14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9" name="Text 67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71" name="Text 69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40080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86000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41248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41248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841248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352544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98464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4553712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4553712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4553712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8065008" y="196596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710928" y="18470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266176" y="244144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8266176" y="267919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9" name="Text 87"/>
          <p:cNvSpPr/>
          <p:nvPr/>
        </p:nvSpPr>
        <p:spPr>
          <a:xfrm>
            <a:off x="8266176" y="299008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640080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40080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139696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28600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41248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841248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841248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352544" y="386791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352544" y="386791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852160" y="362102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998464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101" name="Text 99"/>
          <p:cNvSpPr/>
          <p:nvPr/>
        </p:nvSpPr>
        <p:spPr>
          <a:xfrm>
            <a:off x="4553712" y="434340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ROI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4553712" y="458114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26.66</a:t>
            </a:r>
            <a:endParaRPr lang="en-US" sz="1400" dirty="0"/>
          </a:p>
        </p:txBody>
      </p:sp>
      <p:sp>
        <p:nvSpPr>
          <p:cNvPr id="103" name="Text 101"/>
          <p:cNvSpPr/>
          <p:nvPr/>
        </p:nvSpPr>
        <p:spPr>
          <a:xfrm>
            <a:off x="4553712" y="489204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+1.3%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40080" y="5257800"/>
            <a:ext cx="10698480" cy="914400"/>
          </a:xfrm>
          <a:prstGeom prst="roundRect">
            <a:avLst/>
          </a:prstGeom>
          <a:solidFill>
            <a:srgbClr val="F3F4F6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68096" y="542239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HP Store Affiliate Program delivered mixed results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2980944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834640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49834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51572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÷ Total Commission. A higher ROI indicates greater return per £1 of commission spend. Publisher Commission and Total Commission are equal in this period - no overrides recorded.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202996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1883664"/>
        </p:xfrm>
        <a:graphic>
          <a:graphicData uri="http://schemas.openxmlformats.org/drawingml/2006/table">
            <a:tbl>
              <a:tblPr/>
              <a:tblGrid>
                <a:gridCol w="1821180"/>
                <a:gridCol w="1821180"/>
                <a:gridCol w="1821180"/>
                <a:gridCol w="1821180"/>
                <a:gridCol w="1821180"/>
                <a:gridCol w="18211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F3F4F6">
              <a:alpha val="2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F3F4F6">
              <a:alpha val="1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F3F4F6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62472" y="1828800"/>
            <a:ext cx="0" cy="4297680"/>
          </a:xfrm>
          <a:prstGeom prst="line">
            <a:avLst/>
          </a:prstGeom>
          <a:noFill/>
          <a:ln w="12700">
            <a:solidFill>
              <a:srgbClr val="90B1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007608" y="219456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007608" y="324612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007608" y="429768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07608" y="5349240"/>
            <a:ext cx="109728" cy="109728"/>
          </a:xfrm>
          <a:prstGeom prst="ellipse">
            <a:avLst/>
          </a:prstGeom>
          <a:solidFill>
            <a:srgbClr val="90B1FF"/>
          </a:solidFill>
          <a:ln w="12700">
            <a:solidFill>
              <a:srgbClr val="90B1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85800" y="187452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Efficiency: Conversion rate increased +9.6% (0.12% to 0.13%). Clicks decreased -19.7% while sales decreased -12.0%.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685800" y="329184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Basket vs Volume: AOV increased +11.1% (£397.01 to £441.26). Total order value decreased -2.2% (-£532,425) despite transaction movement.</a:t>
            </a:r>
            <a:endParaRPr lang="en-US" sz="1250" dirty="0"/>
          </a:p>
        </p:txBody>
      </p:sp>
      <p:sp>
        <p:nvSpPr>
          <p:cNvPr id="77" name="Text 75"/>
          <p:cNvSpPr/>
          <p:nvPr/>
        </p:nvSpPr>
        <p:spPr>
          <a:xfrm>
            <a:off x="685800" y="4709160"/>
            <a:ext cx="50749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Cost Control: CPA increased +9.7% (£15.09 to £16.55). Publisher commission moved -3.5% YoY.</a:t>
            </a:r>
            <a:endParaRPr lang="en-US" sz="1250" dirty="0"/>
          </a:p>
        </p:txBody>
      </p:sp>
      <p:sp>
        <p:nvSpPr>
          <p:cNvPr id="78" name="Text 76"/>
          <p:cNvSpPr/>
          <p:nvPr/>
        </p:nvSpPr>
        <p:spPr>
          <a:xfrm>
            <a:off x="6400800" y="290779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Return: ROI increased +1.3% (26.31 to 26.66). This reflects order value generated per unit of commission spend.</a:t>
            </a:r>
            <a:endParaRPr lang="en-US" sz="1250" dirty="0"/>
          </a:p>
        </p:txBody>
      </p:sp>
      <p:sp>
        <p:nvSpPr>
          <p:cNvPr id="79" name="Text 77"/>
          <p:cNvSpPr/>
          <p:nvPr/>
        </p:nvSpPr>
        <p:spPr>
          <a:xfrm>
            <a:off x="6400800" y="4462272"/>
            <a:ext cx="50749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Signal: driver not confirmed from available publisher mover data.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40080" y="2286000"/>
            <a:ext cx="4937760" cy="155448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59152"/>
          <a:ext cx="4754880" cy="1408176"/>
        </p:xfrm>
        <a:graphic>
          <a:graphicData uri="http://schemas.openxmlformats.org/drawingml/2006/table">
            <a:tbl>
              <a:tblPr/>
              <a:tblGrid>
                <a:gridCol w="792480"/>
                <a:gridCol w="792480"/>
                <a:gridCol w="792480"/>
                <a:gridCol w="792480"/>
                <a:gridCol w="792480"/>
                <a:gridCol w="792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3" name="Text 70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4" name="Shape 71"/>
          <p:cNvSpPr/>
          <p:nvPr/>
        </p:nvSpPr>
        <p:spPr>
          <a:xfrm>
            <a:off x="5943600" y="2267712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108192" y="24688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6309360" y="24048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Skimlinks delivered the strongest incremental sales growth, supported by higher order value.</a:t>
            </a:r>
            <a:endParaRPr lang="en-US" sz="1080" dirty="0"/>
          </a:p>
        </p:txBody>
      </p:sp>
      <p:sp>
        <p:nvSpPr>
          <p:cNvPr id="77" name="Shape 74"/>
          <p:cNvSpPr/>
          <p:nvPr/>
        </p:nvSpPr>
        <p:spPr>
          <a:xfrm>
            <a:off x="5943600" y="3191256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108192" y="3392424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6309360" y="332841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Redbrain improved order value year on year despite lower click growth.</a:t>
            </a:r>
            <a:endParaRPr lang="en-US" sz="1080" dirty="0"/>
          </a:p>
        </p:txBody>
      </p:sp>
      <p:sp>
        <p:nvSpPr>
          <p:cNvPr id="80" name="Shape 77"/>
          <p:cNvSpPr/>
          <p:nvPr/>
        </p:nvSpPr>
        <p:spPr>
          <a:xfrm>
            <a:off x="5943600" y="4114800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108192" y="4315968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82" name="Text 79"/>
          <p:cNvSpPr/>
          <p:nvPr/>
        </p:nvSpPr>
        <p:spPr>
          <a:xfrm>
            <a:off x="6309360" y="425196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VoucherCodes remained a large contributor but saw softer sales and order value.</a:t>
            </a:r>
            <a:endParaRPr lang="en-US" sz="1080" dirty="0"/>
          </a:p>
        </p:txBody>
      </p:sp>
      <p:sp>
        <p:nvSpPr>
          <p:cNvPr id="83" name="Shape 80"/>
          <p:cNvSpPr/>
          <p:nvPr/>
        </p:nvSpPr>
        <p:spPr>
          <a:xfrm>
            <a:off x="5943600" y="5038344"/>
            <a:ext cx="5212080" cy="804672"/>
          </a:xfrm>
          <a:prstGeom prst="roundRect">
            <a:avLst/>
          </a:prstGeom>
          <a:solidFill>
            <a:srgbClr val="EEF2FA">
              <a:alpha val="95000"/>
            </a:srgbClr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6108192" y="5239512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</a:t>
            </a:r>
            <a:endParaRPr lang="en-US" sz="1400" dirty="0"/>
          </a:p>
        </p:txBody>
      </p:sp>
      <p:sp>
        <p:nvSpPr>
          <p:cNvPr id="85" name="Text 82"/>
          <p:cNvSpPr/>
          <p:nvPr/>
        </p:nvSpPr>
        <p:spPr>
          <a:xfrm>
            <a:off x="6309360" y="51755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TopCashback declined on both sales and clicks year on year.</a:t>
            </a:r>
            <a:endParaRPr lang="en-US" sz="1080" dirty="0"/>
          </a:p>
        </p:txBody>
      </p:sp>
      <p:sp>
        <p:nvSpPr>
          <p:cNvPr id="86" name="Shape 83"/>
          <p:cNvSpPr/>
          <p:nvPr/>
        </p:nvSpPr>
        <p:spPr>
          <a:xfrm>
            <a:off x="640080" y="3931920"/>
            <a:ext cx="4937760" cy="0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Sales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Up = positive YoY movement; Down = negative YoY movement.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Order Value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Order value movers indicate where incremental revenue was won or lost YoY.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 - Clicks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250545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359152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Traffic movement helps explain volume and conversion shifts across the publisher mix.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3" name="Shape 71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9" name="Shape 77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3" name="Shape 70"/>
          <p:cNvSpPr/>
          <p:nvPr/>
        </p:nvSpPr>
        <p:spPr>
          <a:xfrm>
            <a:off x="640080" y="45262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868680" y="47000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F3F4F6">
              <a:alpha val="2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F3F4F6">
              <a:alpha val="1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F3F4F6">
                <a:alpha val="12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512064" y="1783080"/>
            <a:ext cx="11109960" cy="107899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932688"/>
        </p:xfrm>
        <a:graphic>
          <a:graphicData uri="http://schemas.openxmlformats.org/drawingml/2006/table">
            <a:tbl>
              <a:tblPr/>
              <a:tblGrid>
                <a:gridCol w="2731770"/>
                <a:gridCol w="2731770"/>
                <a:gridCol w="2731770"/>
                <a:gridCol w="273177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F3F4F6">
              <a:alpha val="3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F3F4F6">
              <a:alpha val="2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F3F4F6">
                <a:alpha val="14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9" name="Shape 67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1" name="Text 69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9464040" y="91440"/>
            <a:ext cx="2423160" cy="1828800"/>
          </a:xfrm>
          <a:prstGeom prst="hexagon">
            <a:avLst/>
          </a:prstGeom>
          <a:solidFill>
            <a:srgbClr val="2F6FF2">
              <a:alpha val="2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497312" y="347472"/>
            <a:ext cx="1508760" cy="1170432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972800" y="1874520"/>
            <a:ext cx="1170432" cy="0"/>
          </a:xfrm>
          <a:prstGeom prst="line">
            <a:avLst/>
          </a:prstGeom>
          <a:noFill/>
          <a:ln w="12700">
            <a:solidFill>
              <a:srgbClr val="2F6FF2">
                <a:alpha val="1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12064" y="1783080"/>
            <a:ext cx="11109960" cy="27432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FD5DF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" y="1856232"/>
          <a:ext cx="10927080" cy="2596896"/>
        </p:xfrm>
        <a:graphic>
          <a:graphicData uri="http://schemas.openxmlformats.org/drawingml/2006/table">
            <a:tbl>
              <a:tblPr/>
              <a:tblGrid>
                <a:gridCol w="2185416"/>
                <a:gridCol w="2185416"/>
                <a:gridCol w="2185416"/>
                <a:gridCol w="2185416"/>
                <a:gridCol w="2185416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2026-04-07T11:10:20Z</dcterms:created>
  <dcterms:modified xsi:type="dcterms:W3CDTF">2026-04-07T11:10:20Z</dcterms:modified>
</cp:coreProperties>
</file>