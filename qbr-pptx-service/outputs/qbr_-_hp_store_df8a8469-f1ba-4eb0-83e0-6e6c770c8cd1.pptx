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" y="11430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- HP Store</a:t>
            </a:r>
            <a:endParaRPr lang="en-US" sz="3100" dirty="0"/>
          </a:p>
        </p:txBody>
      </p:sp>
      <p:sp>
        <p:nvSpPr>
          <p:cNvPr id="68" name="Text 66"/>
          <p:cNvSpPr/>
          <p:nvPr/>
        </p:nvSpPr>
        <p:spPr>
          <a:xfrm>
            <a:off x="621792" y="210312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2025-12-01 to 2026-03-25 vs 2024-12-01 to 2025-03-25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21792" y="29718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952" y="30449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1883664" y="2971800"/>
            <a:ext cx="160020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993392" y="304495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[PERIOD] ANALYSIS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21792" y="249631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Increase sales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621792" y="457200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9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69" name="Text 67"/>
          <p:cNvSpPr/>
          <p:nvPr/>
        </p:nvSpPr>
        <p:spPr>
          <a:xfrm>
            <a:off x="64008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period: 2025-12-01 to 2026-03-25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309360" y="233172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Comparison period: 2024-12-01 to 2025-03-25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40080" y="425196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8680" y="44256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All figures are reported in GBP unless otherwise stated. YoY variance is calculated as current period vs comparison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66" name="Shape 64"/>
          <p:cNvSpPr/>
          <p:nvPr/>
        </p:nvSpPr>
        <p:spPr>
          <a:xfrm>
            <a:off x="640080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0080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139696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86000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1248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841248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41248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52544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352544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852160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98464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53712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4553712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4553712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065008" y="2148840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065008" y="214884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564624" y="190195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710928" y="20299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266176" y="262432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8266176" y="2862072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8266176" y="3172968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640080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40080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2139696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2286000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41248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841248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42,050,161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841248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-19.7%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352544" y="4050792"/>
            <a:ext cx="3493008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352544" y="4050792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852160" y="3803904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98464" y="3931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553712" y="4526280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 Rate</a:t>
            </a:r>
            <a:endParaRPr lang="en-US" sz="1000" dirty="0"/>
          </a:p>
        </p:txBody>
      </p:sp>
      <p:sp>
        <p:nvSpPr>
          <p:cNvPr id="99" name="Text 97"/>
          <p:cNvSpPr/>
          <p:nvPr/>
        </p:nvSpPr>
        <p:spPr>
          <a:xfrm>
            <a:off x="4553712" y="4764024"/>
            <a:ext cx="3218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</a:t>
            </a:r>
            <a:endParaRPr lang="en-US" sz="1400" dirty="0"/>
          </a:p>
        </p:txBody>
      </p:sp>
      <p:sp>
        <p:nvSpPr>
          <p:cNvPr id="100" name="Text 98"/>
          <p:cNvSpPr/>
          <p:nvPr/>
        </p:nvSpPr>
        <p:spPr>
          <a:xfrm>
            <a:off x="4553712" y="5074920"/>
            <a:ext cx="3218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00" dirty="0"/>
          </a:p>
        </p:txBody>
      </p:sp>
      <p:sp>
        <p:nvSpPr>
          <p:cNvPr id="101" name="Text 99"/>
          <p:cNvSpPr/>
          <p:nvPr/>
        </p:nvSpPr>
        <p:spPr>
          <a:xfrm>
            <a:off x="640080" y="56235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improved despite softer traffic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 &amp; Conversion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breakdown of traffic, sales and conversion performance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Volume &amp; Conversion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Conversion rate and AOV should be interpreted together with click and sales volume.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Cost, CPA &amp; ROI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spend efficiency and return on investment vs prior 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Cost, CPA &amp; ROI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ROI = Total Order Value / Total Commission. Higher ROI indicates greater return per unit of commission spend.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contribution across the selected scope.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851660"/>
                <a:gridCol w="1851660"/>
                <a:gridCol w="1851660"/>
                <a:gridCol w="1851660"/>
                <a:gridCol w="1851660"/>
                <a:gridCol w="1851660"/>
              </a:tblGrid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UK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Germany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-13.4%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11087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HP Store Netherlands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�,�2,627,705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Implications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58368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425696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8193024" y="1828800"/>
            <a:ext cx="333756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40080" y="4261104"/>
            <a:ext cx="10058400" cy="0"/>
          </a:xfrm>
          <a:prstGeom prst="line">
            <a:avLst/>
          </a:prstGeom>
          <a:noFill/>
          <a:ln w="12700">
            <a:solidFill>
              <a:srgbClr val="2A63D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92024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38328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4632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0936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772400" y="4206240"/>
            <a:ext cx="109728" cy="109728"/>
          </a:xfrm>
          <a:prstGeom prst="ellipse">
            <a:avLst/>
          </a:prstGeom>
          <a:solidFill>
            <a:srgbClr val="2A63D5"/>
          </a:solidFill>
          <a:ln w="12700">
            <a:solidFill>
              <a:srgbClr val="2A63D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82880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AOV: £441.26 (+£44.25, +11.1%)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5577840" y="4590288"/>
            <a:ext cx="4526280" cy="1627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Clicks: 42,050,161 (-10,314,194, -19.7%)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Priority Actions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Three critical focus areas for the next cycle.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40080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276856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841248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to 25 March 2026 vs 1 December 2024 to 25 March 2025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4370832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370832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07608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4572000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Sales: 54,562 (-7,422, -12.0%)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8101584" y="2331720"/>
            <a:ext cx="3493008" cy="27889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01584" y="2331720"/>
            <a:ext cx="3493008" cy="566928"/>
          </a:xfrm>
          <a:prstGeom prst="rect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738360" y="2441448"/>
            <a:ext cx="21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8302752" y="3154680"/>
            <a:ext cx="312724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value: £24,076,021 (-£532,425, -2.2%)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640080" y="206654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Summary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4937760" cy="38862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295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71" name="Text 68"/>
          <p:cNvSpPr/>
          <p:nvPr/>
        </p:nvSpPr>
        <p:spPr>
          <a:xfrm>
            <a:off x="594360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800" dirty="0"/>
          </a:p>
        </p:txBody>
      </p:sp>
      <p:sp>
        <p:nvSpPr>
          <p:cNvPr id="72" name="Text 69"/>
          <p:cNvSpPr/>
          <p:nvPr/>
        </p:nvSpPr>
        <p:spPr>
          <a:xfrm>
            <a:off x="5989320" y="2286000"/>
            <a:ext cx="5120640" cy="38862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Skimlinks delivered the strongest incremental sales growth, supported by higher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Redbrain improved order value year on year despite lower click growth.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VoucherCodes remained a large contributor but saw softer sales and order value.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→ TopCashback declined on both sales and clicks year on year.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Growth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delivering the highest absolute order value increases year-over-year.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Growth Publishers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+£590,200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Redbrain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16055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CSS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6,814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£2,611,402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+£201,331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Skimlinks delivered the strongest incremental sales growth, supported by higher order value.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YoY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Decline Publishers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with the largest absolute order value decreases.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Decline Publishers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  <a:gridCol w="123444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-£780,112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Declining publishers should be reviewed with account teams and validated before the next QBR cycle.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Current Performers</a:t>
            </a:r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by Order Value (Top 5)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Highest-performing publishers by current period order value.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Current Performers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  <a:gridCol w="1110996"/>
              </a:tblGrid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Rank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 Commission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9921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£4,731,100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11,240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£181,520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1478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18116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£3,820,210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9,540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+18.3%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£152,808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£16.02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Trend legend: positive values indicate YoY growth, negative values indicate YoY decline.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Performance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Order value performance broken down by publisher segment.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4008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Voucher: -8.4% YoY</a:t>
            </a:r>
            <a:endParaRPr lang="en-US" sz="1250" dirty="0"/>
          </a:p>
        </p:txBody>
      </p:sp>
      <p:sp>
        <p:nvSpPr>
          <p:cNvPr id="72" name="Shape 70"/>
          <p:cNvSpPr/>
          <p:nvPr/>
        </p:nvSpPr>
        <p:spPr>
          <a:xfrm>
            <a:off x="6217920" y="214884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17920" y="214884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46520" y="236829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Content: +7.2% YoY</a:t>
            </a:r>
            <a:endParaRPr lang="en-US" sz="1250" dirty="0"/>
          </a:p>
        </p:txBody>
      </p:sp>
      <p:sp>
        <p:nvSpPr>
          <p:cNvPr id="75" name="Shape 73"/>
          <p:cNvSpPr/>
          <p:nvPr/>
        </p:nvSpPr>
        <p:spPr>
          <a:xfrm>
            <a:off x="64008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008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6217920" y="4114800"/>
            <a:ext cx="5394960" cy="17373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217920" y="4114800"/>
            <a:ext cx="82296" cy="173736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446520" y="4334256"/>
            <a:ext cx="4983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Publishers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Brand-new publishers are not included in YoY comparisons until a prior-year baseline exists.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&amp; Emerging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Early performance signals for publishers still in ramp-up phase.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3504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86384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5705856" y="17830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88736" y="20116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03504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86384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5705856" y="3840480"/>
            <a:ext cx="4983480" cy="173736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88736" y="4069080"/>
            <a:ext cx="4617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note not available.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40080" y="571500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68680" y="588873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Emerging publishers are defined as partners with limited active history; full YoY signal is expected in the next cycle.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Recommended publishers for activation in the next period.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New Publisher Prospects</a:t>
            </a:r>
            <a:endParaRPr lang="en-US" sz="1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OV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Est. Sales Potential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Source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69" name="Shape 66"/>
          <p:cNvSpPr/>
          <p:nvPr/>
        </p:nvSpPr>
        <p:spPr>
          <a:xfrm>
            <a:off x="640080" y="5897880"/>
            <a:ext cx="10927080" cy="841248"/>
          </a:xfrm>
          <a:prstGeom prst="roundRect">
            <a:avLst/>
          </a:prstGeom>
          <a:solidFill>
            <a:srgbClr val="AFC4F5">
              <a:alpha val="88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68680" y="607161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▭  If no prospects are currently available, populate this slide from the live outreach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68" name="Shape 66"/>
          <p:cNvSpPr/>
          <p:nvPr/>
        </p:nvSpPr>
        <p:spPr>
          <a:xfrm>
            <a:off x="493776" y="177393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" y="183794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914400" y="173736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1. 1 December 2025 to 25 March 2026 vs 1 December 2024 to 25 March 2025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493776" y="282549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5216" y="288950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914400" y="278892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2. Sales: 54,562 (-7,422, -12.0%)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93776" y="387705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5216" y="394106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914400" y="384048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3. Order value: £24,076,021 (-£532,425, -2.2%)</a:t>
            </a:r>
            <a:endParaRPr lang="en-US" sz="1300" dirty="0"/>
          </a:p>
        </p:txBody>
      </p:sp>
      <p:sp>
        <p:nvSpPr>
          <p:cNvPr id="77" name="Shape 75"/>
          <p:cNvSpPr/>
          <p:nvPr/>
        </p:nvSpPr>
        <p:spPr>
          <a:xfrm>
            <a:off x="493776" y="492861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85216" y="499262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4400" y="489204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4. AOV: £441.26 (+£44.25, +11.1%)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493776" y="5980176"/>
            <a:ext cx="310896" cy="310896"/>
          </a:xfrm>
          <a:prstGeom prst="roundRect">
            <a:avLst/>
          </a:prstGeom>
          <a:solidFill>
            <a:srgbClr val="F3F4F6">
              <a:alpha val="8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" y="6044184"/>
            <a:ext cx="128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914400" y="5943600"/>
            <a:ext cx="10698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5. Clicks: 42,050,161 (-10,314,194, -19.7%)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3520440"/>
            <a:ext cx="3383280" cy="2651760"/>
          </a:xfrm>
          <a:prstGeom prst="hexagon">
            <a:avLst/>
          </a:prstGeom>
          <a:solidFill>
            <a:srgbClr val="2F6FF2">
              <a:alpha val="1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189720" y="6263640"/>
            <a:ext cx="3017520" cy="0"/>
          </a:xfrm>
          <a:prstGeom prst="line">
            <a:avLst/>
          </a:prstGeom>
          <a:noFill/>
          <a:ln w="12700">
            <a:solidFill>
              <a:srgbClr val="2F6FF2">
                <a:alpha val="2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68" name="Text 66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 performance and mitigation actions.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434840"/>
        </p:xfrm>
        <a:graphic>
          <a:graphicData uri="http://schemas.openxmlformats.org/drawingml/2006/table">
            <a:tbl>
              <a:tblPr/>
              <a:tblGrid>
                <a:gridCol w="2777490"/>
                <a:gridCol w="2777490"/>
                <a:gridCol w="2777490"/>
                <a:gridCol w="2777490"/>
              </a:tblGrid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Likelihood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2217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performance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Validate root cause and agree a short-cycle recovery plan.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566928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576986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5870448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5971032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6071616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6172200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272784"/>
            <a:ext cx="22860" cy="22860"/>
          </a:xfrm>
          <a:prstGeom prst="ellipse">
            <a:avLst/>
          </a:prstGeom>
          <a:solidFill>
            <a:srgbClr val="F3F4F6">
              <a:alpha val="4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-365760"/>
            <a:ext cx="3017520" cy="2286000"/>
          </a:xfrm>
          <a:prstGeom prst="hexagon">
            <a:avLst/>
          </a:prstGeom>
          <a:solidFill>
            <a:srgbClr val="F3F4F6">
              <a:alpha val="12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601200" y="-45720"/>
            <a:ext cx="2651760" cy="2103120"/>
          </a:xfrm>
          <a:prstGeom prst="hexagon">
            <a:avLst/>
          </a:prstGeom>
          <a:solidFill>
            <a:srgbClr val="F3F4F6">
              <a:alpha val="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8640" y="502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Thank you.</a:t>
            </a:r>
            <a:endParaRPr lang="en-US" sz="3000" dirty="0"/>
          </a:p>
        </p:txBody>
      </p:sp>
      <p:sp>
        <p:nvSpPr>
          <p:cNvPr id="68" name="Shape 66"/>
          <p:cNvSpPr/>
          <p:nvPr/>
        </p:nvSpPr>
        <p:spPr>
          <a:xfrm>
            <a:off x="274320" y="1143000"/>
            <a:ext cx="11640312" cy="5257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16459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3000" dirty="0"/>
          </a:p>
        </p:txBody>
      </p:sp>
      <p:sp>
        <p:nvSpPr>
          <p:cNvPr id="70" name="Text 68"/>
          <p:cNvSpPr/>
          <p:nvPr/>
        </p:nvSpPr>
        <p:spPr>
          <a:xfrm>
            <a:off x="548640" y="235915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2926080"/>
            <a:ext cx="457200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Confirm action owners and deadlines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Share this report with stakeholders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Schedule next QBR checkpoint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303520" y="2926080"/>
            <a:ext cx="5303520" cy="1645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Prepared by: HP Store team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Role: Affiliate Program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Date: 2025-12-01 to 2026-03-25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94360" y="50749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8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373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4572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" y="14630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6072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246888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7373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347472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373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76656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77240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77824" y="448056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7373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7432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490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5488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6072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76656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77824" y="548640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315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373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7432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490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76072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6656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7240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7824" y="649224"/>
            <a:ext cx="22860" cy="22860"/>
          </a:xfrm>
          <a:prstGeom prst="ellipse">
            <a:avLst/>
          </a:prstGeom>
          <a:solidFill>
            <a:srgbClr val="2F6FF2">
              <a:alpha val="58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512064" y="1563624"/>
            <a:ext cx="11109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37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YoY Table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" y="1783080"/>
          <a:ext cx="11109960" cy="4709160"/>
        </p:xfrm>
        <a:graphic>
          <a:graphicData uri="http://schemas.openxmlformats.org/drawingml/2006/table">
            <a:tbl>
              <a:tblPr/>
              <a:tblGrid>
                <a:gridCol w="2221992"/>
                <a:gridCol w="2221992"/>
                <a:gridCol w="2221992"/>
                <a:gridCol w="2221992"/>
                <a:gridCol w="2221992"/>
              </a:tblGrid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4709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36576" marR="36576" marT="36576" marB="36576">
                    <a:lnL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2026-04-07T10:45:55Z</dcterms:created>
  <dcterms:modified xsi:type="dcterms:W3CDTF">2026-04-07T10:45:55Z</dcterms:modified>
</cp:coreProperties>
</file>