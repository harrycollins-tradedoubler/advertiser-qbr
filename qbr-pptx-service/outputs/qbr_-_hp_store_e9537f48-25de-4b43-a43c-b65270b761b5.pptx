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63840" y="-365760"/>
            <a:ext cx="3017520" cy="2286000"/>
          </a:xfrm>
          <a:prstGeom prst="hexagon">
            <a:avLst/>
          </a:prstGeom>
          <a:solidFill>
            <a:srgbClr val="F3F4F6">
              <a:alpha val="1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01200" y="-45720"/>
            <a:ext cx="2651760" cy="2103120"/>
          </a:xfrm>
          <a:prstGeom prst="hexagon">
            <a:avLst/>
          </a:prstGeom>
          <a:solidFill>
            <a:srgbClr val="F3F4F6">
              <a:alpha val="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F3F4F6">
              <a:alpha val="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F3F4F6">
                <a:alpha val="2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21792" y="11430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QBR - HP Store</a:t>
            </a:r>
            <a:endParaRPr lang="en-US" sz="3100" dirty="0"/>
          </a:p>
        </p:txBody>
      </p:sp>
      <p:sp>
        <p:nvSpPr>
          <p:cNvPr id="70" name="Text 68"/>
          <p:cNvSpPr/>
          <p:nvPr/>
        </p:nvSpPr>
        <p:spPr>
          <a:xfrm>
            <a:off x="621792" y="21031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2025-12-01 to 2026-03-25 vs 2024-12-01 to 2025-03-25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621792" y="2971800"/>
            <a:ext cx="1170432" cy="329184"/>
          </a:xfrm>
          <a:prstGeom prst="roundRect">
            <a:avLst/>
          </a:prstGeom>
          <a:solidFill>
            <a:srgbClr val="F3F4F6">
              <a:alpha val="7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58952" y="3044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QBR REPORT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1883664" y="2971800"/>
            <a:ext cx="1600200" cy="329184"/>
          </a:xfrm>
          <a:prstGeom prst="roundRect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993392" y="30449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0D4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[PERIOD] ANALYSIS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621792" y="2496312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Increase sales</a:t>
            </a:r>
            <a:endParaRPr lang="en-US" sz="1150" dirty="0"/>
          </a:p>
        </p:txBody>
      </p:sp>
      <p:sp>
        <p:nvSpPr>
          <p:cNvPr id="76" name="Text 74"/>
          <p:cNvSpPr/>
          <p:nvPr/>
        </p:nvSpPr>
        <p:spPr>
          <a:xfrm>
            <a:off x="621792" y="457200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</a:t>
            </a:r>
            <a:endParaRPr lang="en-US" sz="9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and YoY comparison windows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64008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Period</a:t>
            </a:r>
            <a:endParaRPr lang="en-US" sz="2100" dirty="0"/>
          </a:p>
        </p:txBody>
      </p:sp>
      <p:sp>
        <p:nvSpPr>
          <p:cNvPr id="70" name="Text 68"/>
          <p:cNvSpPr/>
          <p:nvPr/>
        </p:nvSpPr>
        <p:spPr>
          <a:xfrm>
            <a:off x="630936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Comparison Period (YoY)</a:t>
            </a:r>
            <a:endParaRPr lang="en-US" sz="2100" dirty="0"/>
          </a:p>
        </p:txBody>
      </p:sp>
      <p:sp>
        <p:nvSpPr>
          <p:cNvPr id="71" name="Text 69"/>
          <p:cNvSpPr/>
          <p:nvPr/>
        </p:nvSpPr>
        <p:spPr>
          <a:xfrm>
            <a:off x="640080" y="23317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period: 2025-12-01 to 2026-03-25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6309360" y="23317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Comparison period: 2024-12-01 to 2025-03-25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640080" y="425196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68680" y="442569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All figures are reported in GBP unless otherwise stated. YoY variance is calculated as current period vs comparison period.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68" name="Shape 66"/>
          <p:cNvSpPr/>
          <p:nvPr/>
        </p:nvSpPr>
        <p:spPr>
          <a:xfrm>
            <a:off x="640080" y="1965960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286000" y="1847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841248" y="244144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Sales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841248" y="267919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54,562</a:t>
            </a:r>
            <a:endParaRPr lang="en-US" sz="1400" dirty="0"/>
          </a:p>
        </p:txBody>
      </p:sp>
      <p:sp>
        <p:nvSpPr>
          <p:cNvPr id="74" name="Text 72"/>
          <p:cNvSpPr/>
          <p:nvPr/>
        </p:nvSpPr>
        <p:spPr>
          <a:xfrm>
            <a:off x="841248" y="299008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-12.0%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4352544" y="1965960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998464" y="1847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553712" y="244144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Order value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4553712" y="267919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£24,076,021</a:t>
            </a:r>
            <a:endParaRPr lang="en-US" sz="1400" dirty="0"/>
          </a:p>
        </p:txBody>
      </p:sp>
      <p:sp>
        <p:nvSpPr>
          <p:cNvPr id="81" name="Text 79"/>
          <p:cNvSpPr/>
          <p:nvPr/>
        </p:nvSpPr>
        <p:spPr>
          <a:xfrm>
            <a:off x="4553712" y="299008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-2.2%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8065008" y="1965960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710928" y="1847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8266176" y="244144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AOV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8266176" y="267919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£441.26</a:t>
            </a:r>
            <a:endParaRPr lang="en-US" sz="1400" dirty="0"/>
          </a:p>
        </p:txBody>
      </p:sp>
      <p:sp>
        <p:nvSpPr>
          <p:cNvPr id="88" name="Text 86"/>
          <p:cNvSpPr/>
          <p:nvPr/>
        </p:nvSpPr>
        <p:spPr>
          <a:xfrm>
            <a:off x="8266176" y="299008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A66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+11.1%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640080" y="3867912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40080" y="3867912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139696" y="3621024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286000" y="3749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841248" y="4343400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Conv Rate</a:t>
            </a:r>
            <a:endParaRPr lang="en-US" sz="1000" dirty="0"/>
          </a:p>
        </p:txBody>
      </p:sp>
      <p:sp>
        <p:nvSpPr>
          <p:cNvPr id="94" name="Text 92"/>
          <p:cNvSpPr/>
          <p:nvPr/>
        </p:nvSpPr>
        <p:spPr>
          <a:xfrm>
            <a:off x="841248" y="4581144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0.13%</a:t>
            </a:r>
            <a:endParaRPr lang="en-US" sz="1400" dirty="0"/>
          </a:p>
        </p:txBody>
      </p:sp>
      <p:sp>
        <p:nvSpPr>
          <p:cNvPr id="95" name="Text 93"/>
          <p:cNvSpPr/>
          <p:nvPr/>
        </p:nvSpPr>
        <p:spPr>
          <a:xfrm>
            <a:off x="841248" y="4892040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A66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+9.6%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4352544" y="3867912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352544" y="3867912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852160" y="3621024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998464" y="3749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4553712" y="4343400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ROI</a:t>
            </a:r>
            <a:endParaRPr lang="en-US" sz="1000" dirty="0"/>
          </a:p>
        </p:txBody>
      </p:sp>
      <p:sp>
        <p:nvSpPr>
          <p:cNvPr id="101" name="Text 99"/>
          <p:cNvSpPr/>
          <p:nvPr/>
        </p:nvSpPr>
        <p:spPr>
          <a:xfrm>
            <a:off x="4553712" y="4581144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26.66</a:t>
            </a:r>
            <a:endParaRPr lang="en-US" sz="1400" dirty="0"/>
          </a:p>
        </p:txBody>
      </p:sp>
      <p:sp>
        <p:nvSpPr>
          <p:cNvPr id="102" name="Text 100"/>
          <p:cNvSpPr/>
          <p:nvPr/>
        </p:nvSpPr>
        <p:spPr>
          <a:xfrm>
            <a:off x="4553712" y="4892040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A66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+1.3%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640080" y="5257800"/>
            <a:ext cx="10698480" cy="914400"/>
          </a:xfrm>
          <a:prstGeom prst="roundRect">
            <a:avLst/>
          </a:prstGeom>
          <a:solidFill>
            <a:srgbClr val="F3F4F6">
              <a:alpha val="95000"/>
            </a:srgbClr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68096" y="5422392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The HP Store Affiliate Program delivered mixed results in Dec 2025 – Mar 2026. While AOV grew +11.1% to £441.26 and conversion rate improved +9.6%, total sales declined -12.0% YoY driven by a -19.7% reduction in click volume. Total order value decreased -2.2% to £24,076,021. Full KPI breakdown follows on the next slides.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Summary Table: Volume &amp; Conversion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Detailed breakdown of traffic, sales and conversion performance vs prior year.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Volume &amp; Conversion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2211019"/>
                <a:gridCol w="2211019"/>
                <a:gridCol w="2211019"/>
                <a:gridCol w="2211019"/>
                <a:gridCol w="2211019"/>
              </a:tblGrid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Period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Prior Year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% Variance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Clicks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42,050,161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52,364,355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-10,314,194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-19.7%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(Transactions)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54,562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61,984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-7,422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-12.0%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Conversion Rate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+0.01%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+9.6%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Average Order Value (AOV)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£441.26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£397.01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+£44.25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+11.1%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Order Value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£24,076,021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£24,608,446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-£532,425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2" name="Shape 69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Conversion rate and AOV should be interpreted together with click and sales volume.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Summary Table: Cost, CPA &amp; ROI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spend efficiency and return on investment vs prior year.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Cost, CPA &amp; ROI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2211019"/>
                <a:gridCol w="2211019"/>
                <a:gridCol w="2211019"/>
                <a:gridCol w="2211019"/>
                <a:gridCol w="2211019"/>
              </a:tblGrid>
              <a:tr h="8759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Period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Prior Year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% Variance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8759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 Commission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8759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Commission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8759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Cost Per Acquisition (CPA)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£16.55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£15.09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+£1.46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8759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Return on Investment (ROI)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26.66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26.31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+0.35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+1.3%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72" name="Shape 69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ROI = Total Order Value ÷ Total Commission. A higher ROI indicates greater return per £1 of commission spend. Publisher Commission and Total Commission are equal in this period - no overrides recorded.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Program-Level Breakdown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Program-level contribution across the selected scope.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Program-Level Breakdown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1842516"/>
                <a:gridCol w="1842516"/>
                <a:gridCol w="1842516"/>
                <a:gridCol w="1842516"/>
                <a:gridCol w="1842516"/>
                <a:gridCol w="1842516"/>
              </a:tblGrid>
              <a:tr h="10949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Program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Program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10949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HP Store UK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12345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£12,544,201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-1.8%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28,411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10949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HP Store Germany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23456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€8,904,115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-3.6%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19,084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-13.4%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10949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HP Store Netherlands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34567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€2,627,705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+4.2%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7,067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63840" y="-365760"/>
            <a:ext cx="3017520" cy="2286000"/>
          </a:xfrm>
          <a:prstGeom prst="hexagon">
            <a:avLst/>
          </a:prstGeom>
          <a:solidFill>
            <a:srgbClr val="F3F4F6">
              <a:alpha val="1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01200" y="-45720"/>
            <a:ext cx="2651760" cy="2103120"/>
          </a:xfrm>
          <a:prstGeom prst="hexagon">
            <a:avLst/>
          </a:prstGeom>
          <a:solidFill>
            <a:srgbClr val="F3F4F6">
              <a:alpha val="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F3F4F6">
              <a:alpha val="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F3F4F6">
                <a:alpha val="2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Highlights &amp;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Business Implications</a:t>
            </a:r>
            <a:endParaRPr lang="en-US" sz="2800" dirty="0"/>
          </a:p>
        </p:txBody>
      </p:sp>
      <p:sp>
        <p:nvSpPr>
          <p:cNvPr id="70" name="Text 68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6062472" y="1828800"/>
            <a:ext cx="0" cy="4297680"/>
          </a:xfrm>
          <a:prstGeom prst="line">
            <a:avLst/>
          </a:prstGeom>
          <a:noFill/>
          <a:ln w="12700">
            <a:solidFill>
              <a:srgbClr val="90B1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007608" y="2194560"/>
            <a:ext cx="109728" cy="109728"/>
          </a:xfrm>
          <a:prstGeom prst="ellipse">
            <a:avLst/>
          </a:prstGeom>
          <a:solidFill>
            <a:srgbClr val="90B1FF"/>
          </a:solidFill>
          <a:ln w="12700">
            <a:solidFill>
              <a:srgbClr val="90B1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007608" y="3246120"/>
            <a:ext cx="109728" cy="109728"/>
          </a:xfrm>
          <a:prstGeom prst="ellipse">
            <a:avLst/>
          </a:prstGeom>
          <a:solidFill>
            <a:srgbClr val="90B1FF"/>
          </a:solidFill>
          <a:ln w="12700">
            <a:solidFill>
              <a:srgbClr val="90B1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007608" y="4297680"/>
            <a:ext cx="109728" cy="109728"/>
          </a:xfrm>
          <a:prstGeom prst="ellipse">
            <a:avLst/>
          </a:prstGeom>
          <a:solidFill>
            <a:srgbClr val="90B1FF"/>
          </a:solidFill>
          <a:ln w="12700">
            <a:solidFill>
              <a:srgbClr val="90B1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007608" y="5349240"/>
            <a:ext cx="109728" cy="109728"/>
          </a:xfrm>
          <a:prstGeom prst="ellipse">
            <a:avLst/>
          </a:prstGeom>
          <a:solidFill>
            <a:srgbClr val="90B1FF"/>
          </a:solidFill>
          <a:ln w="12700">
            <a:solidFill>
              <a:srgbClr val="90B1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85800" y="1874520"/>
            <a:ext cx="50749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Conversion Efficiency: Conversion rate increased +9.6% (0.12% to 0.13%). Clicks decreased -19.7% while sales decreased -12.0%.</a:t>
            </a:r>
            <a:endParaRPr lang="en-US" sz="1250" dirty="0"/>
          </a:p>
        </p:txBody>
      </p:sp>
      <p:sp>
        <p:nvSpPr>
          <p:cNvPr id="77" name="Text 75"/>
          <p:cNvSpPr/>
          <p:nvPr/>
        </p:nvSpPr>
        <p:spPr>
          <a:xfrm>
            <a:off x="685800" y="3291840"/>
            <a:ext cx="50749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Basket vs Volume: AOV increased +11.1% (£397.01 to £441.26). Total order value decreased -2.2% (-£532,425) despite transaction movement.</a:t>
            </a:r>
            <a:endParaRPr lang="en-US" sz="1250" dirty="0"/>
          </a:p>
        </p:txBody>
      </p:sp>
      <p:sp>
        <p:nvSpPr>
          <p:cNvPr id="78" name="Text 76"/>
          <p:cNvSpPr/>
          <p:nvPr/>
        </p:nvSpPr>
        <p:spPr>
          <a:xfrm>
            <a:off x="685800" y="4709160"/>
            <a:ext cx="50749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Cost Control: CPA increased +9.7% (£15.09 to £16.55). Publisher commission moved -3.5% YoY.</a:t>
            </a:r>
            <a:endParaRPr lang="en-US" sz="1250" dirty="0"/>
          </a:p>
        </p:txBody>
      </p:sp>
      <p:sp>
        <p:nvSpPr>
          <p:cNvPr id="79" name="Text 77"/>
          <p:cNvSpPr/>
          <p:nvPr/>
        </p:nvSpPr>
        <p:spPr>
          <a:xfrm>
            <a:off x="6400800" y="2907792"/>
            <a:ext cx="507492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Return: ROI increased +1.3% (26.31 to 26.66). This reflects order value generated per unit of commission spend.</a:t>
            </a:r>
            <a:endParaRPr lang="en-US" sz="1250" dirty="0"/>
          </a:p>
        </p:txBody>
      </p:sp>
      <p:sp>
        <p:nvSpPr>
          <p:cNvPr id="80" name="Text 78"/>
          <p:cNvSpPr/>
          <p:nvPr/>
        </p:nvSpPr>
        <p:spPr>
          <a:xfrm>
            <a:off x="6400800" y="4462272"/>
            <a:ext cx="507492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Publisher Signal: driver not confirmed from available publisher mover data.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Priority Actions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Three critical focus areas for the next cycle.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40080" y="2331720"/>
            <a:ext cx="3493008" cy="27889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40080" y="2331720"/>
            <a:ext cx="3493008" cy="566928"/>
          </a:xfrm>
          <a:prstGeom prst="rect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276856" y="244144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2000" dirty="0"/>
          </a:p>
        </p:txBody>
      </p:sp>
      <p:sp>
        <p:nvSpPr>
          <p:cNvPr id="72" name="Text 70"/>
          <p:cNvSpPr/>
          <p:nvPr/>
        </p:nvSpPr>
        <p:spPr>
          <a:xfrm>
            <a:off x="841248" y="3154680"/>
            <a:ext cx="31272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 December 2025 to 25 March 2026 vs 1 December 2024 to 25 March 2025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4370832" y="2331720"/>
            <a:ext cx="3493008" cy="27889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370832" y="2331720"/>
            <a:ext cx="3493008" cy="566928"/>
          </a:xfrm>
          <a:prstGeom prst="rect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007608" y="244144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2000" dirty="0"/>
          </a:p>
        </p:txBody>
      </p:sp>
      <p:sp>
        <p:nvSpPr>
          <p:cNvPr id="76" name="Text 74"/>
          <p:cNvSpPr/>
          <p:nvPr/>
        </p:nvSpPr>
        <p:spPr>
          <a:xfrm>
            <a:off x="4572000" y="3154680"/>
            <a:ext cx="31272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Sales: 54,562 (-7,422, -12.0%)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8101584" y="2331720"/>
            <a:ext cx="3493008" cy="27889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101584" y="2331720"/>
            <a:ext cx="3493008" cy="566928"/>
          </a:xfrm>
          <a:prstGeom prst="rect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738360" y="244144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2000" dirty="0"/>
          </a:p>
        </p:txBody>
      </p:sp>
      <p:sp>
        <p:nvSpPr>
          <p:cNvPr id="80" name="Text 78"/>
          <p:cNvSpPr/>
          <p:nvPr/>
        </p:nvSpPr>
        <p:spPr>
          <a:xfrm>
            <a:off x="8302752" y="3154680"/>
            <a:ext cx="31272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Order value: £24,076,021 (-£532,425, -2.2%)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Performance Overview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High-level summary of publisher activity, segmentation and YoY movement.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640080" y="2066544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Activity Summary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40080" y="2286000"/>
            <a:ext cx="4937760" cy="38862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2313432"/>
          <a:ext cx="4882896" cy="3831336"/>
        </p:xfrm>
        <a:graphic>
          <a:graphicData uri="http://schemas.openxmlformats.org/drawingml/2006/table">
            <a:tbl>
              <a:tblPr/>
              <a:tblGrid>
                <a:gridCol w="813816"/>
                <a:gridCol w="813816"/>
                <a:gridCol w="813816"/>
                <a:gridCol w="813816"/>
                <a:gridCol w="813816"/>
                <a:gridCol w="813816"/>
              </a:tblGrid>
              <a:tr h="1277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1277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19,221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£7,112,230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-8.4%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1277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Content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15,604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+6.8%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£6,108,554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+7.2%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23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72" name="Text 69"/>
          <p:cNvSpPr/>
          <p:nvPr/>
        </p:nvSpPr>
        <p:spPr>
          <a:xfrm>
            <a:off x="5943600" y="1874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Key Observations</a:t>
            </a:r>
            <a:endParaRPr lang="en-US" sz="1800" dirty="0"/>
          </a:p>
        </p:txBody>
      </p:sp>
      <p:sp>
        <p:nvSpPr>
          <p:cNvPr id="73" name="Text 70"/>
          <p:cNvSpPr/>
          <p:nvPr/>
        </p:nvSpPr>
        <p:spPr>
          <a:xfrm>
            <a:off x="5989320" y="2286000"/>
            <a:ext cx="5120640" cy="3886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→ Skimlinks delivered the strongest incremental sales growth, supported by higher order value.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→ Redbrain improved order value year on year despite lower click growth.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→ VoucherCodes remained a large contributor but saw softer sales and order value.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→ TopCashback declined on both sales and clicks year on year.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Shakers: Sales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Largest YoY sales movers and decliners.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 - Sales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1842516"/>
                <a:gridCol w="1842516"/>
                <a:gridCol w="1842516"/>
                <a:gridCol w="1842516"/>
                <a:gridCol w="1842516"/>
                <a:gridCol w="1842516"/>
              </a:tblGrid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Direction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2" name="Shape 69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Up = positive YoY movement; Down = negative YoY movement.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Shakers: Order Value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Largest YoY order value movers and decliners.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 - Order Value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1842516"/>
                <a:gridCol w="1842516"/>
                <a:gridCol w="1842516"/>
                <a:gridCol w="1842516"/>
                <a:gridCol w="1842516"/>
                <a:gridCol w="1842516"/>
              </a:tblGrid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Direction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2" name="Shape 69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Order value movers indicate where incremental revenue was won or lost YoY.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Shakers: Clicks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Largest YoY click movers and decliners.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 - Clicks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1842516"/>
                <a:gridCol w="1842516"/>
                <a:gridCol w="1842516"/>
                <a:gridCol w="1842516"/>
                <a:gridCol w="1842516"/>
                <a:gridCol w="1842516"/>
              </a:tblGrid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Direction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Clicks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2" name="Shape 69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Traffic movement helps explain volume and conversion shifts across the publisher mix.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Performance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Order value performance broken down by publisher segment.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40080" y="214884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40080" y="214884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68680" y="236829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Voucher: -8.4% YoY</a:t>
            </a:r>
            <a:endParaRPr lang="en-US" sz="1250" dirty="0"/>
          </a:p>
        </p:txBody>
      </p:sp>
      <p:sp>
        <p:nvSpPr>
          <p:cNvPr id="72" name="Shape 70"/>
          <p:cNvSpPr/>
          <p:nvPr/>
        </p:nvSpPr>
        <p:spPr>
          <a:xfrm>
            <a:off x="6217920" y="214884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217920" y="214884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46520" y="236829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Content: +7.2% YoY</a:t>
            </a:r>
            <a:endParaRPr lang="en-US" sz="1250" dirty="0"/>
          </a:p>
        </p:txBody>
      </p:sp>
      <p:sp>
        <p:nvSpPr>
          <p:cNvPr id="75" name="Shape 73"/>
          <p:cNvSpPr/>
          <p:nvPr/>
        </p:nvSpPr>
        <p:spPr>
          <a:xfrm>
            <a:off x="640080" y="411480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40080" y="411480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68680" y="433425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signal not available.</a:t>
            </a:r>
            <a:endParaRPr lang="en-US" sz="1250" dirty="0"/>
          </a:p>
        </p:txBody>
      </p:sp>
      <p:sp>
        <p:nvSpPr>
          <p:cNvPr id="78" name="Shape 76"/>
          <p:cNvSpPr/>
          <p:nvPr/>
        </p:nvSpPr>
        <p:spPr>
          <a:xfrm>
            <a:off x="6217920" y="411480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217920" y="411480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446520" y="433425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signal not available.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Brand New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 activated for the first time in the current period.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Brand New Publishers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2211019"/>
                <a:gridCol w="2211019"/>
                <a:gridCol w="2211019"/>
                <a:gridCol w="2211019"/>
                <a:gridCol w="2211019"/>
              </a:tblGrid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CPA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2" name="Shape 69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Brand-new publishers are not included in YoY comparisons until a prior-year baseline exists.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New &amp; Emerging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Early performance signals for publishers still in ramp-up phase.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03504" y="17830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86384" y="20116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5705856" y="17830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888736" y="20116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603504" y="38404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86384" y="40690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5705856" y="38404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888736" y="40690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640080" y="571500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68680" y="588873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Emerging publishers are defined as partners with limited active history; full YoY signal is expected in the next cycle.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New Publisher Prospects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Recommended publishers for activation in the next period.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New Publisher Prospects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2211019"/>
                <a:gridCol w="2211019"/>
                <a:gridCol w="2211019"/>
                <a:gridCol w="2211019"/>
                <a:gridCol w="2211019"/>
              </a:tblGrid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Est. OV Potential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Est. Sales Potential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Source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2" name="Shape 69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If no prospects are currently available, populate this slide from the live outreach pipeline.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63840" y="-365760"/>
            <a:ext cx="3017520" cy="2286000"/>
          </a:xfrm>
          <a:prstGeom prst="hexagon">
            <a:avLst/>
          </a:prstGeom>
          <a:solidFill>
            <a:srgbClr val="F3F4F6">
              <a:alpha val="1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01200" y="-45720"/>
            <a:ext cx="2651760" cy="2103120"/>
          </a:xfrm>
          <a:prstGeom prst="hexagon">
            <a:avLst/>
          </a:prstGeom>
          <a:solidFill>
            <a:srgbClr val="F3F4F6">
              <a:alpha val="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F3F4F6">
              <a:alpha val="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F3F4F6">
                <a:alpha val="2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Strategic Recommendations</a:t>
            </a:r>
            <a:endParaRPr lang="en-US" sz="2800" dirty="0"/>
          </a:p>
        </p:txBody>
      </p:sp>
      <p:sp>
        <p:nvSpPr>
          <p:cNvPr id="70" name="Shape 68"/>
          <p:cNvSpPr/>
          <p:nvPr/>
        </p:nvSpPr>
        <p:spPr>
          <a:xfrm>
            <a:off x="493776" y="177393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85216" y="183794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914400" y="173736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1. 1 December 2025 to 25 March 2026 vs 1 December 2024 to 25 March 2025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493776" y="282549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85216" y="288950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914400" y="278892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2. Sales: 54,562 (-7,422, -12.0%)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493776" y="387705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85216" y="394106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914400" y="384048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3. Order value: £24,076,021 (-£532,425, -2.2%)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493776" y="492861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85216" y="499262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914400" y="489204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4. AOV: £441.26 (+£44.25, +11.1%)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493776" y="598017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85216" y="604418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914400" y="594360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5. Clicks: 42,050,161 (-10,314,194, -19.7%)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Key risks to program performance and mitigation actions.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Risks &amp; Dependencies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2763774"/>
                <a:gridCol w="2763774"/>
                <a:gridCol w="2763774"/>
                <a:gridCol w="2763774"/>
              </a:tblGrid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Risk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Impact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Likelihood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Mitigation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VoucherCodes performance risk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High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Medium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Validate root cause and agree a short-cycle recovery plan.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63840" y="-365760"/>
            <a:ext cx="3017520" cy="2286000"/>
          </a:xfrm>
          <a:prstGeom prst="hexagon">
            <a:avLst/>
          </a:prstGeom>
          <a:solidFill>
            <a:srgbClr val="F3F4F6">
              <a:alpha val="1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01200" y="-45720"/>
            <a:ext cx="2651760" cy="2103120"/>
          </a:xfrm>
          <a:prstGeom prst="hexagon">
            <a:avLst/>
          </a:prstGeom>
          <a:solidFill>
            <a:srgbClr val="F3F4F6">
              <a:alpha val="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F3F4F6">
              <a:alpha val="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F3F4F6">
                <a:alpha val="2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48640" y="502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HP Store Thank you.</a:t>
            </a:r>
            <a:endParaRPr lang="en-US" sz="3000" dirty="0"/>
          </a:p>
        </p:txBody>
      </p:sp>
      <p:sp>
        <p:nvSpPr>
          <p:cNvPr id="70" name="Shape 68"/>
          <p:cNvSpPr/>
          <p:nvPr/>
        </p:nvSpPr>
        <p:spPr>
          <a:xfrm>
            <a:off x="274320" y="1143000"/>
            <a:ext cx="11640312" cy="5257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48640" y="16459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Any Questions?</a:t>
            </a:r>
            <a:endParaRPr lang="en-US" sz="3000" dirty="0"/>
          </a:p>
        </p:txBody>
      </p:sp>
      <p:sp>
        <p:nvSpPr>
          <p:cNvPr id="72" name="Text 70"/>
          <p:cNvSpPr/>
          <p:nvPr/>
        </p:nvSpPr>
        <p:spPr>
          <a:xfrm>
            <a:off x="548640" y="235915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 Affiliate Program - 2025-12-01 to 2026-03-25 Quarterly Business Review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548640" y="2926080"/>
            <a:ext cx="4572000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Confirm action owners and deadlines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Share this report with stakeholders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Schedule next QBR checkpoint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5303520" y="2926080"/>
            <a:ext cx="5303520" cy="1645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Prepared by: HP Store team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Role: Affiliate Program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Date: 2025-12-01 to 2026-03-25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594360" y="50749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</a:t>
            </a:r>
            <a:endParaRPr lang="en-US" sz="8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Appendix: Program YoY Table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 YoY Table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12064" y="1783080"/>
            <a:ext cx="11109960" cy="47091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654296"/>
        </p:xfrm>
        <a:graphic>
          <a:graphicData uri="http://schemas.openxmlformats.org/drawingml/2006/table">
            <a:tbl>
              <a:tblPr/>
              <a:tblGrid>
                <a:gridCol w="2211019"/>
                <a:gridCol w="2211019"/>
                <a:gridCol w="2211019"/>
                <a:gridCol w="2211019"/>
                <a:gridCol w="2211019"/>
              </a:tblGrid>
              <a:tr h="4654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Previous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Difference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Variance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654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Clicks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42,050,161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52,364,355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-10,314,194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-19.7%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654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54,562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61,984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-7,422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-12.0%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654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Conv Rate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0.13%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0.12%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+0.01%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+9.6%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654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Order value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£24,076,021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£24,608,446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-£532,425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-2.2%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654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AOV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£441.26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£397.01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+£44.25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+11.1%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654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 Commission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654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Commission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654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CPA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£16.55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£15.09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+£1.46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+9.7%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654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ROI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26.66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26.31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+0.35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+1.3%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HP Store</dc:title>
  <dc:subject>Quarterly business review</dc:subject>
  <dc:creator>QBR PPTX Service</dc:creator>
  <cp:lastModifiedBy>QBR PPTX Service</cp:lastModifiedBy>
  <cp:revision>1</cp:revision>
  <dcterms:created xsi:type="dcterms:W3CDTF">2026-04-07T10:53:42Z</dcterms:created>
  <dcterms:modified xsi:type="dcterms:W3CDTF">2026-04-07T10:53:42Z</dcterms:modified>
</cp:coreProperties>
</file>