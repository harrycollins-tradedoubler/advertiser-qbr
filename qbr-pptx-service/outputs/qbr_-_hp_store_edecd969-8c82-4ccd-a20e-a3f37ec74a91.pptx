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109" name="Text 107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2025-12-01 to 2026-03-25 vs 2024-12-01 to 2025-03-25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Increase sales</a:t>
            </a:r>
            <a:endParaRPr lang="en-US" sz="1150" dirty="0"/>
          </a:p>
        </p:txBody>
      </p:sp>
      <p:sp>
        <p:nvSpPr>
          <p:cNvPr id="115" name="Text 113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111" name="Text 109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112" name="Text 110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2025-12-01 to 2026-03-25</a:t>
            </a:r>
            <a:endParaRPr lang="en-US" sz="1400" dirty="0"/>
          </a:p>
        </p:txBody>
      </p:sp>
      <p:sp>
        <p:nvSpPr>
          <p:cNvPr id="113" name="Text 111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2024-12-01 to 2025-03-25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GBP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0080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28600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841248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841248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</a:t>
            </a:r>
            <a:endParaRPr lang="en-US" sz="1400" dirty="0"/>
          </a:p>
        </p:txBody>
      </p:sp>
      <p:sp>
        <p:nvSpPr>
          <p:cNvPr id="115" name="Text 113"/>
          <p:cNvSpPr/>
          <p:nvPr/>
        </p:nvSpPr>
        <p:spPr>
          <a:xfrm>
            <a:off x="841248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4352544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998464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4553712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4553712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</a:t>
            </a:r>
            <a:endParaRPr lang="en-US" sz="1400" dirty="0"/>
          </a:p>
        </p:txBody>
      </p:sp>
      <p:sp>
        <p:nvSpPr>
          <p:cNvPr id="122" name="Text 120"/>
          <p:cNvSpPr/>
          <p:nvPr/>
        </p:nvSpPr>
        <p:spPr>
          <a:xfrm>
            <a:off x="4553712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8065008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71092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266176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128" name="Text 126"/>
          <p:cNvSpPr/>
          <p:nvPr/>
        </p:nvSpPr>
        <p:spPr>
          <a:xfrm>
            <a:off x="8266176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</a:t>
            </a:r>
            <a:endParaRPr lang="en-US" sz="1400" dirty="0"/>
          </a:p>
        </p:txBody>
      </p:sp>
      <p:sp>
        <p:nvSpPr>
          <p:cNvPr id="129" name="Text 127"/>
          <p:cNvSpPr/>
          <p:nvPr/>
        </p:nvSpPr>
        <p:spPr>
          <a:xfrm>
            <a:off x="8266176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640080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40080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139696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228600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134" name="Text 132"/>
          <p:cNvSpPr/>
          <p:nvPr/>
        </p:nvSpPr>
        <p:spPr>
          <a:xfrm>
            <a:off x="841248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135" name="Text 133"/>
          <p:cNvSpPr/>
          <p:nvPr/>
        </p:nvSpPr>
        <p:spPr>
          <a:xfrm>
            <a:off x="841248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</a:t>
            </a:r>
            <a:endParaRPr lang="en-US" sz="1400" dirty="0"/>
          </a:p>
        </p:txBody>
      </p:sp>
      <p:sp>
        <p:nvSpPr>
          <p:cNvPr id="136" name="Text 134"/>
          <p:cNvSpPr/>
          <p:nvPr/>
        </p:nvSpPr>
        <p:spPr>
          <a:xfrm>
            <a:off x="841248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4352544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352544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852160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98464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141" name="Text 139"/>
          <p:cNvSpPr/>
          <p:nvPr/>
        </p:nvSpPr>
        <p:spPr>
          <a:xfrm>
            <a:off x="4553712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ROI</a:t>
            </a:r>
            <a:endParaRPr lang="en-US" sz="1000" dirty="0"/>
          </a:p>
        </p:txBody>
      </p:sp>
      <p:sp>
        <p:nvSpPr>
          <p:cNvPr id="142" name="Text 140"/>
          <p:cNvSpPr/>
          <p:nvPr/>
        </p:nvSpPr>
        <p:spPr>
          <a:xfrm>
            <a:off x="4553712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26.66</a:t>
            </a:r>
            <a:endParaRPr lang="en-US" sz="1400" dirty="0"/>
          </a:p>
        </p:txBody>
      </p:sp>
      <p:sp>
        <p:nvSpPr>
          <p:cNvPr id="143" name="Text 141"/>
          <p:cNvSpPr/>
          <p:nvPr/>
        </p:nvSpPr>
        <p:spPr>
          <a:xfrm>
            <a:off x="4553712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+1.3%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640080" y="5257800"/>
            <a:ext cx="10698480" cy="914400"/>
          </a:xfrm>
          <a:prstGeom prst="roundRect">
            <a:avLst/>
          </a:prstGeom>
          <a:solidFill>
            <a:srgbClr val="F3F4F6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68096" y="542239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HP Store Affiliate Program delivered mixed results in Dec 2025 – Mar 2026. While AOV grew +11.1% to £441.26 and conversion rate improved +9.6%, total sales declined -12.0% YoY driven by a -19.7% reduction in click volume. Total order value decreased -2.2% to £24,076,021. Full KPI breakdown follows on the next slides.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9809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834640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9834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51572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÷ Total Commission. A higher ROI indicates greater return per £1 of commission spend. Publisher Commission and Total Commission are equal in this period - no overrides recorded.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contribution across the selected scope.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02996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1883664"/>
        </p:xfrm>
        <a:graphic>
          <a:graphicData uri="http://schemas.openxmlformats.org/drawingml/2006/table">
            <a:tbl>
              <a:tblPr/>
              <a:tblGrid>
                <a:gridCol w="1821180"/>
                <a:gridCol w="1821180"/>
                <a:gridCol w="1821180"/>
                <a:gridCol w="1821180"/>
                <a:gridCol w="1821180"/>
                <a:gridCol w="18211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Germany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Netherlands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062472" y="1828800"/>
            <a:ext cx="0" cy="4297680"/>
          </a:xfrm>
          <a:prstGeom prst="line">
            <a:avLst/>
          </a:prstGeom>
          <a:noFill/>
          <a:ln w="12700">
            <a:solidFill>
              <a:srgbClr val="90B1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007608" y="219456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007608" y="324612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007608" y="429768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007608" y="534924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85800" y="187452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+9.6% (0.12% to 0.13%). Clicks decreased -19.7% while sales decreased -12.0%.</a:t>
            </a:r>
            <a:endParaRPr lang="en-US" sz="1250" dirty="0"/>
          </a:p>
        </p:txBody>
      </p:sp>
      <p:sp>
        <p:nvSpPr>
          <p:cNvPr id="116" name="Text 114"/>
          <p:cNvSpPr/>
          <p:nvPr/>
        </p:nvSpPr>
        <p:spPr>
          <a:xfrm>
            <a:off x="68580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+11.1% (£397.01 to £441.26). Total order value decreased -2.2% (-£532,425) despite transaction movement.</a:t>
            </a:r>
            <a:endParaRPr lang="en-US" sz="1250" dirty="0"/>
          </a:p>
        </p:txBody>
      </p:sp>
      <p:sp>
        <p:nvSpPr>
          <p:cNvPr id="117" name="Text 115"/>
          <p:cNvSpPr/>
          <p:nvPr/>
        </p:nvSpPr>
        <p:spPr>
          <a:xfrm>
            <a:off x="685800" y="470916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+9.7% (£15.09 to £16.55). Publisher commission moved -3.5% YoY.</a:t>
            </a:r>
            <a:endParaRPr lang="en-US" sz="1250" dirty="0"/>
          </a:p>
        </p:txBody>
      </p:sp>
      <p:sp>
        <p:nvSpPr>
          <p:cNvPr id="118" name="Text 116"/>
          <p:cNvSpPr/>
          <p:nvPr/>
        </p:nvSpPr>
        <p:spPr>
          <a:xfrm>
            <a:off x="6400800" y="290779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Return: ROI increased +1.3% (26.31 to 26.66). This reflects order value generated per unit of commission spend.</a:t>
            </a:r>
            <a:endParaRPr lang="en-US" sz="1250" dirty="0"/>
          </a:p>
        </p:txBody>
      </p:sp>
      <p:sp>
        <p:nvSpPr>
          <p:cNvPr id="119" name="Text 117"/>
          <p:cNvSpPr/>
          <p:nvPr/>
        </p:nvSpPr>
        <p:spPr>
          <a:xfrm>
            <a:off x="6400800" y="446227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Signal: driver not confirmed from available publisher mover data.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640080" y="2286000"/>
            <a:ext cx="4937760" cy="1554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59152"/>
          <a:ext cx="4754880" cy="1408176"/>
        </p:xfrm>
        <a:graphic>
          <a:graphicData uri="http://schemas.openxmlformats.org/drawingml/2006/table">
            <a:tbl>
              <a:tblPr/>
              <a:tblGrid>
                <a:gridCol w="792480"/>
                <a:gridCol w="792480"/>
                <a:gridCol w="792480"/>
                <a:gridCol w="792480"/>
                <a:gridCol w="792480"/>
                <a:gridCol w="792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Text 110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114" name="Shape 111"/>
          <p:cNvSpPr/>
          <p:nvPr/>
        </p:nvSpPr>
        <p:spPr>
          <a:xfrm>
            <a:off x="5943600" y="2267712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6108192" y="24688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16" name="Text 113"/>
          <p:cNvSpPr/>
          <p:nvPr/>
        </p:nvSpPr>
        <p:spPr>
          <a:xfrm>
            <a:off x="6309360" y="240487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Skimlinks delivered the strongest incremental sales growth, supported by higher order value.</a:t>
            </a:r>
            <a:endParaRPr lang="en-US" sz="1080" dirty="0"/>
          </a:p>
        </p:txBody>
      </p:sp>
      <p:sp>
        <p:nvSpPr>
          <p:cNvPr id="117" name="Shape 114"/>
          <p:cNvSpPr/>
          <p:nvPr/>
        </p:nvSpPr>
        <p:spPr>
          <a:xfrm>
            <a:off x="5943600" y="3191256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6108192" y="339242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19" name="Text 116"/>
          <p:cNvSpPr/>
          <p:nvPr/>
        </p:nvSpPr>
        <p:spPr>
          <a:xfrm>
            <a:off x="6309360" y="332841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Redbrain improved order value year on year despite lower click growth.</a:t>
            </a:r>
            <a:endParaRPr lang="en-US" sz="1080" dirty="0"/>
          </a:p>
        </p:txBody>
      </p:sp>
      <p:sp>
        <p:nvSpPr>
          <p:cNvPr id="120" name="Shape 117"/>
          <p:cNvSpPr/>
          <p:nvPr/>
        </p:nvSpPr>
        <p:spPr>
          <a:xfrm>
            <a:off x="5943600" y="4114800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6108192" y="43159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22" name="Text 119"/>
          <p:cNvSpPr/>
          <p:nvPr/>
        </p:nvSpPr>
        <p:spPr>
          <a:xfrm>
            <a:off x="6309360" y="425196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VoucherCodes remained a large contributor but saw softer sales and order value.</a:t>
            </a:r>
            <a:endParaRPr lang="en-US" sz="1080" dirty="0"/>
          </a:p>
        </p:txBody>
      </p:sp>
      <p:sp>
        <p:nvSpPr>
          <p:cNvPr id="123" name="Shape 120"/>
          <p:cNvSpPr/>
          <p:nvPr/>
        </p:nvSpPr>
        <p:spPr>
          <a:xfrm>
            <a:off x="5943600" y="5038344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6108192" y="52395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125" name="Text 122"/>
          <p:cNvSpPr/>
          <p:nvPr/>
        </p:nvSpPr>
        <p:spPr>
          <a:xfrm>
            <a:off x="6309360" y="517550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TopCashback declined on both sales and clicks year on year.</a:t>
            </a:r>
            <a:endParaRPr lang="en-US" sz="1080" dirty="0"/>
          </a:p>
        </p:txBody>
      </p:sp>
      <p:sp>
        <p:nvSpPr>
          <p:cNvPr id="126" name="Shape 123"/>
          <p:cNvSpPr/>
          <p:nvPr/>
        </p:nvSpPr>
        <p:spPr>
          <a:xfrm>
            <a:off x="640080" y="3931920"/>
            <a:ext cx="4937760" cy="0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Sales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Up = positive YoY movement; Down = negative YoY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Order Value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Order value movers indicate where incremental revenue was won or lost YoY.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Clicks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Traffic movement helps explain volume and conversion shifts across the publisher mix.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-8.4% YoY</a:t>
            </a:r>
            <a:endParaRPr lang="en-US" sz="1250" dirty="0"/>
          </a:p>
        </p:txBody>
      </p:sp>
      <p:sp>
        <p:nvSpPr>
          <p:cNvPr id="113" name="Shape 111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+7.2% YoY</a:t>
            </a:r>
            <a:endParaRPr lang="en-US" sz="1250" dirty="0"/>
          </a:p>
        </p:txBody>
      </p:sp>
      <p:sp>
        <p:nvSpPr>
          <p:cNvPr id="116" name="Shape 114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  <p:sp>
        <p:nvSpPr>
          <p:cNvPr id="119" name="Shape 117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107899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932688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107899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932688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113" name="Shape 11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December 2025 to 25 March 2026 vs 1 December 2024 to 25 March 2025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54,562 (-7,422, -12.0%)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£24,076,021 (-£532,425, -2.2%)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120" name="Text 118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£441.26 (+£44.25, +11.1%)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42,050,161 (-10,314,194, -19.7%)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12064" y="1783080"/>
            <a:ext cx="11109960" cy="107899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932688"/>
        </p:xfrm>
        <a:graphic>
          <a:graphicData uri="http://schemas.openxmlformats.org/drawingml/2006/table">
            <a:tbl>
              <a:tblPr/>
              <a:tblGrid>
                <a:gridCol w="2731770"/>
                <a:gridCol w="2731770"/>
                <a:gridCol w="2731770"/>
                <a:gridCol w="273177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F3F4F6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F3F4F6">
                <a:alpha val="2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109" name="Shape 107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111" name="Text 109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2025-12-01 to 2026-03-25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732520" y="182880"/>
            <a:ext cx="914400" cy="-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0"/>
            <a:ext cx="868680" cy="2011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0" y="201168"/>
            <a:ext cx="411480" cy="7132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27080" y="914400"/>
            <a:ext cx="-411480" cy="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1609344"/>
            <a:ext cx="-859536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56064" y="1755648"/>
            <a:ext cx="-713232" cy="-52120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42832" y="1234440"/>
            <a:ext cx="-210312" cy="-105156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02368" y="493776"/>
            <a:ext cx="822960" cy="1463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25328" y="640080"/>
            <a:ext cx="457200" cy="58521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2528" y="1225296"/>
            <a:ext cx="-237744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44784" y="1901952"/>
            <a:ext cx="-713232" cy="182880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31552" y="2084832"/>
            <a:ext cx="-640080" cy="-40233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91472" y="1682496"/>
            <a:ext cx="-118872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72600" y="987552"/>
            <a:ext cx="429768" cy="-49377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98864" y="1700784"/>
            <a:ext cx="768096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66960" y="1865376"/>
            <a:ext cx="365760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0" y="2542032"/>
            <a:ext cx="-310896" cy="67665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21824" y="3218688"/>
            <a:ext cx="-694944" cy="16459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0" y="3383280"/>
            <a:ext cx="-676656" cy="-42062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50224" y="2962656"/>
            <a:ext cx="-128016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22208" y="2267712"/>
            <a:ext cx="676656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87584" y="2121408"/>
            <a:ext cx="694944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82528" y="2359152"/>
            <a:ext cx="402336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84864" y="3017520"/>
            <a:ext cx="-256032" cy="65836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28832" y="3675888"/>
            <a:ext cx="-667512" cy="2377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61320" y="3913632"/>
            <a:ext cx="-521208" cy="-32918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40112" y="3584448"/>
            <a:ext cx="-91440" cy="-69494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48672" y="2889504"/>
            <a:ext cx="438912" cy="-7680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15984" y="3200400"/>
            <a:ext cx="539496" cy="25603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55480" y="3456432"/>
            <a:ext cx="228600" cy="603504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4059936"/>
            <a:ext cx="-384048" cy="5394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00032" y="4599432"/>
            <a:ext cx="-548640" cy="82296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51392" y="4681728"/>
            <a:ext cx="-420624" cy="-38404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30768" y="4297680"/>
            <a:ext cx="-18288" cy="-566928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3730752"/>
            <a:ext cx="603504" cy="-530352"/>
          </a:xfrm>
          <a:prstGeom prst="line">
            <a:avLst/>
          </a:prstGeom>
          <a:noFill/>
          <a:ln w="12700">
            <a:solidFill>
              <a:srgbClr val="2F6FF2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646920" y="0"/>
            <a:ext cx="978408" cy="640080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56064" y="1755648"/>
            <a:ext cx="310896" cy="10972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31552" y="2084832"/>
            <a:ext cx="256032" cy="36576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21824" y="3218688"/>
            <a:ext cx="-237744" cy="841248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61320" y="3913632"/>
            <a:ext cx="-777240" cy="1463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32520" y="182880"/>
            <a:ext cx="466344" cy="1517904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27080" y="914400"/>
            <a:ext cx="155448" cy="144475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42832" y="1234440"/>
            <a:ext cx="-530352" cy="2496312"/>
          </a:xfrm>
          <a:prstGeom prst="line">
            <a:avLst/>
          </a:prstGeom>
          <a:noFill/>
          <a:ln w="12700">
            <a:solidFill>
              <a:srgbClr val="2F6FF2">
                <a:alpha val="11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2F6FF2">
              <a:alpha val="3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YoY Table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512064" y="1783080"/>
            <a:ext cx="11109960" cy="2743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59689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2026-04-07T11:24:17Z</dcterms:created>
  <dcterms:modified xsi:type="dcterms:W3CDTF">2026-04-07T11:24:17Z</dcterms:modified>
</cp:coreProperties>
</file>